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256" r:id="rId2"/>
    <p:sldId id="259" r:id="rId3"/>
    <p:sldId id="319" r:id="rId4"/>
    <p:sldId id="317" r:id="rId5"/>
    <p:sldId id="287" r:id="rId6"/>
    <p:sldId id="349" r:id="rId7"/>
    <p:sldId id="350" r:id="rId8"/>
    <p:sldId id="351" r:id="rId9"/>
    <p:sldId id="326" r:id="rId10"/>
    <p:sldId id="318" r:id="rId11"/>
    <p:sldId id="320" r:id="rId12"/>
    <p:sldId id="321" r:id="rId13"/>
    <p:sldId id="322" r:id="rId14"/>
    <p:sldId id="323" r:id="rId15"/>
    <p:sldId id="324" r:id="rId16"/>
    <p:sldId id="325" r:id="rId17"/>
    <p:sldId id="327" r:id="rId18"/>
    <p:sldId id="328" r:id="rId19"/>
    <p:sldId id="329" r:id="rId20"/>
    <p:sldId id="330" r:id="rId21"/>
    <p:sldId id="331" r:id="rId22"/>
    <p:sldId id="352" r:id="rId23"/>
    <p:sldId id="353" r:id="rId24"/>
    <p:sldId id="332" r:id="rId25"/>
    <p:sldId id="333" r:id="rId26"/>
    <p:sldId id="344" r:id="rId27"/>
    <p:sldId id="345" r:id="rId28"/>
    <p:sldId id="334" r:id="rId29"/>
    <p:sldId id="346" r:id="rId30"/>
    <p:sldId id="347" r:id="rId31"/>
    <p:sldId id="335" r:id="rId32"/>
    <p:sldId id="336" r:id="rId33"/>
    <p:sldId id="337" r:id="rId34"/>
    <p:sldId id="338" r:id="rId35"/>
    <p:sldId id="339" r:id="rId36"/>
    <p:sldId id="340" r:id="rId37"/>
    <p:sldId id="341" r:id="rId38"/>
    <p:sldId id="280" r:id="rId39"/>
    <p:sldId id="342" r:id="rId40"/>
    <p:sldId id="264" r:id="rId41"/>
  </p:sldIdLst>
  <p:sldSz cx="12192000" cy="6858000"/>
  <p:notesSz cx="6858000" cy="9144000"/>
  <p:embeddedFontLst>
    <p:embeddedFont>
      <p:font typeface="Arial Black" panose="020B0A04020102020204" pitchFamily="34" charset="0"/>
      <p:bold r:id="rId43"/>
    </p:embeddedFont>
    <p:embeddedFont>
      <p:font typeface="Cooper Black" panose="0208090404030B020404" pitchFamily="18" charset="0"/>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OTeGwvpyXv+WHXkZujPTG/Ddn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p:cViewPr varScale="1">
        <p:scale>
          <a:sx n="81" d="100"/>
          <a:sy n="81" d="100"/>
        </p:scale>
        <p:origin x="50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799802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862B0E-0960-CA6E-8E3F-C6AED682EA39}"/>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7685703-4284-45AA-660E-3FE147F595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25E40265-EE35-853E-BE43-731AA38454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6473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862B0E-0960-CA6E-8E3F-C6AED682EA39}"/>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7685703-4284-45AA-660E-3FE147F595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25E40265-EE35-853E-BE43-731AA38454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6473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862B0E-0960-CA6E-8E3F-C6AED682EA39}"/>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7685703-4284-45AA-660E-3FE147F595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25E40265-EE35-853E-BE43-731AA38454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6473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862B0E-0960-CA6E-8E3F-C6AED682EA39}"/>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7685703-4284-45AA-660E-3FE147F595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25E40265-EE35-853E-BE43-731AA38454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6473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862B0E-0960-CA6E-8E3F-C6AED682EA39}"/>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7685703-4284-45AA-660E-3FE147F595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25E40265-EE35-853E-BE43-731AA38454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6473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E93FF98-2A1D-9D86-1E3C-BDAF8DE09848}"/>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52EC59D9-3EFB-110F-2573-6CE0EFFE2E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948AD575-959C-EE09-1C7D-EA22CF9D8F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7975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F7C4149-898B-93DE-084E-98D4CC0B90D7}"/>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E03F422A-AF22-34C4-2984-82703AD929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BC049340-E525-D295-374D-E000A25C7F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92030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1C7A48F-6A46-D0B4-81F7-26094EE2524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EE17748-2915-F462-6222-865609042E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3:notes">
            <a:extLst>
              <a:ext uri="{FF2B5EF4-FFF2-40B4-BE49-F238E27FC236}">
                <a16:creationId xmlns:a16="http://schemas.microsoft.com/office/drawing/2014/main" id="{4873FB6C-9F9E-55FE-4AF7-7139E49B5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02161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775BFBFE-CA47-7B51-232D-C4FB9A06BB8F}"/>
            </a:ext>
          </a:extLst>
        </p:cNvPr>
        <p:cNvGrpSpPr/>
        <p:nvPr/>
      </p:nvGrpSpPr>
      <p:grpSpPr>
        <a:xfrm>
          <a:off x="0" y="0"/>
          <a:ext cx="0" cy="0"/>
          <a:chOff x="0" y="0"/>
          <a:chExt cx="0" cy="0"/>
        </a:xfrm>
      </p:grpSpPr>
      <p:sp>
        <p:nvSpPr>
          <p:cNvPr id="121" name="Google Shape;121;p2:notes">
            <a:extLst>
              <a:ext uri="{FF2B5EF4-FFF2-40B4-BE49-F238E27FC236}">
                <a16:creationId xmlns:a16="http://schemas.microsoft.com/office/drawing/2014/main" id="{2A8A8B37-316C-E64A-72AA-7CCC7698415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2:notes">
            <a:extLst>
              <a:ext uri="{FF2B5EF4-FFF2-40B4-BE49-F238E27FC236}">
                <a16:creationId xmlns:a16="http://schemas.microsoft.com/office/drawing/2014/main" id="{F26C5013-E24C-E192-F9EA-CB1C052A0F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72648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775BFBFE-CA47-7B51-232D-C4FB9A06BB8F}"/>
            </a:ext>
          </a:extLst>
        </p:cNvPr>
        <p:cNvGrpSpPr/>
        <p:nvPr/>
      </p:nvGrpSpPr>
      <p:grpSpPr>
        <a:xfrm>
          <a:off x="0" y="0"/>
          <a:ext cx="0" cy="0"/>
          <a:chOff x="0" y="0"/>
          <a:chExt cx="0" cy="0"/>
        </a:xfrm>
      </p:grpSpPr>
      <p:sp>
        <p:nvSpPr>
          <p:cNvPr id="121" name="Google Shape;121;p2:notes">
            <a:extLst>
              <a:ext uri="{FF2B5EF4-FFF2-40B4-BE49-F238E27FC236}">
                <a16:creationId xmlns:a16="http://schemas.microsoft.com/office/drawing/2014/main" id="{2A8A8B37-316C-E64A-72AA-7CCC7698415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2:notes">
            <a:extLst>
              <a:ext uri="{FF2B5EF4-FFF2-40B4-BE49-F238E27FC236}">
                <a16:creationId xmlns:a16="http://schemas.microsoft.com/office/drawing/2014/main" id="{F26C5013-E24C-E192-F9EA-CB1C052A0F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72648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eec32c6c4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eec32c6c4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5183188" y="987425"/>
            <a:ext cx="6172200" cy="4873625"/>
          </a:xfrm>
          <a:prstGeom prst="rect">
            <a:avLst/>
          </a:prstGeom>
          <a:noFill/>
          <a:ln>
            <a:noFill/>
          </a:ln>
        </p:spPr>
      </p:sp>
      <p:sp>
        <p:nvSpPr>
          <p:cNvPr id="68" name="Google Shape;68;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6" descr="A picture containing drawing&#10;&#10;Description automatically generated"/>
          <p:cNvPicPr preferRelativeResize="0"/>
          <p:nvPr/>
        </p:nvPicPr>
        <p:blipFill rotWithShape="1">
          <a:blip r:embed="rId13">
            <a:alphaModFix/>
          </a:blip>
          <a:srcRect/>
          <a:stretch/>
        </p:blipFill>
        <p:spPr>
          <a:xfrm>
            <a:off x="180328" y="93609"/>
            <a:ext cx="3783105" cy="863652"/>
          </a:xfrm>
          <a:prstGeom prst="rect">
            <a:avLst/>
          </a:prstGeom>
          <a:noFill/>
          <a:ln>
            <a:noFill/>
          </a:ln>
        </p:spPr>
      </p:pic>
      <p:pic>
        <p:nvPicPr>
          <p:cNvPr id="12" name="Google Shape;12;p6" descr="A close up of a sign&#10;&#10;Description automatically generated"/>
          <p:cNvPicPr preferRelativeResize="0"/>
          <p:nvPr/>
        </p:nvPicPr>
        <p:blipFill rotWithShape="1">
          <a:blip r:embed="rId14">
            <a:alphaModFix/>
          </a:blip>
          <a:srcRect/>
          <a:stretch/>
        </p:blipFill>
        <p:spPr>
          <a:xfrm>
            <a:off x="10757469" y="93609"/>
            <a:ext cx="1313507" cy="721920"/>
          </a:xfrm>
          <a:prstGeom prst="rect">
            <a:avLst/>
          </a:prstGeom>
          <a:noFill/>
          <a:ln>
            <a:noFill/>
          </a:ln>
        </p:spPr>
      </p:pic>
      <p:pic>
        <p:nvPicPr>
          <p:cNvPr id="13" name="Google Shape;13;p6"/>
          <p:cNvPicPr preferRelativeResize="0"/>
          <p:nvPr/>
        </p:nvPicPr>
        <p:blipFill rotWithShape="1">
          <a:blip r:embed="rId15">
            <a:alphaModFix/>
          </a:blip>
          <a:srcRect/>
          <a:stretch/>
        </p:blipFill>
        <p:spPr>
          <a:xfrm rot="5400000">
            <a:off x="5722459" y="409320"/>
            <a:ext cx="702416" cy="12236665"/>
          </a:xfrm>
          <a:prstGeom prst="rect">
            <a:avLst/>
          </a:prstGeom>
          <a:noFill/>
          <a:ln>
            <a:noFill/>
          </a:ln>
        </p:spPr>
      </p:pic>
      <p:pic>
        <p:nvPicPr>
          <p:cNvPr id="14" name="Google Shape;14;p6"/>
          <p:cNvPicPr preferRelativeResize="0"/>
          <p:nvPr/>
        </p:nvPicPr>
        <p:blipFill rotWithShape="1">
          <a:blip r:embed="rId16">
            <a:alphaModFix/>
          </a:blip>
          <a:srcRect/>
          <a:stretch/>
        </p:blipFill>
        <p:spPr>
          <a:xfrm rot="5400000">
            <a:off x="7421731" y="1406173"/>
            <a:ext cx="207493" cy="93330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mdpi.com/2072-4292/14/21/5546?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mdpi.com/2072-4292/13/13/2513?utm_source=chatgpt.com" TargetMode="External"/><Relationship Id="rId5" Type="http://schemas.openxmlformats.org/officeDocument/2006/relationships/hyperlink" Target="https://www.sciencedirect.com/science/article/pii/S2666592122000373?utm_source=chatgpt.com" TargetMode="External"/><Relationship Id="rId4" Type="http://schemas.openxmlformats.org/officeDocument/2006/relationships/hyperlink" Target="https://www.researchgate.net/publication/362670845_Machine_learning_for_wildfire_classification_Exploring_blackbox_eXplainable_symbolic_and_SMOTE_methods?utm_source=chatgpt.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modis.gsfc.nasa.gov/sci_team/pubs/abstract_new.php?id=27905&amp;utm_source=chatgpt.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95500" y="1324897"/>
            <a:ext cx="9001000" cy="906840"/>
          </a:xfrm>
          <a:prstGeom prst="rect">
            <a:avLst/>
          </a:prstGeom>
          <a:noFill/>
          <a:ln>
            <a:noFill/>
          </a:ln>
        </p:spPr>
        <p:txBody>
          <a:bodyPr spcFirstLastPara="1" wrap="square" lIns="91425" tIns="45700" rIns="91425" bIns="45700" anchor="b" anchorCtr="0">
            <a:normAutofit fontScale="90000"/>
          </a:bodyPr>
          <a:lstStyle/>
          <a:p>
            <a:pPr lvl="0"/>
            <a:r>
              <a:rPr lang="en-US" dirty="0"/>
              <a:t>Wildfire Detection System</a:t>
            </a:r>
            <a:endParaRPr dirty="0"/>
          </a:p>
        </p:txBody>
      </p:sp>
      <p:sp>
        <p:nvSpPr>
          <p:cNvPr id="89" name="Google Shape;89;p1"/>
          <p:cNvSpPr txBox="1">
            <a:spLocks noGrp="1"/>
          </p:cNvSpPr>
          <p:nvPr>
            <p:ph type="subTitle" idx="1"/>
          </p:nvPr>
        </p:nvSpPr>
        <p:spPr>
          <a:xfrm>
            <a:off x="3078988" y="4745381"/>
            <a:ext cx="6034022" cy="988219"/>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4400"/>
              <a:buNone/>
            </a:pPr>
            <a:r>
              <a:rPr lang="en-US" dirty="0">
                <a:latin typeface="Arial Black"/>
                <a:sym typeface="Arial Black"/>
              </a:rPr>
              <a:t>KJ Somaiya School Of Engineering</a:t>
            </a:r>
          </a:p>
          <a:p>
            <a:pPr marL="0" lvl="0" indent="0" algn="ctr" rtl="0">
              <a:lnSpc>
                <a:spcPct val="90000"/>
              </a:lnSpc>
              <a:spcBef>
                <a:spcPts val="0"/>
              </a:spcBef>
              <a:spcAft>
                <a:spcPts val="0"/>
              </a:spcAft>
              <a:buClr>
                <a:schemeClr val="dk1"/>
              </a:buClr>
              <a:buSzPts val="4400"/>
              <a:buNone/>
            </a:pPr>
            <a:endParaRPr lang="en-US" dirty="0">
              <a:latin typeface="Arial Black"/>
              <a:sym typeface="Arial Black"/>
            </a:endParaRPr>
          </a:p>
          <a:p>
            <a:pPr marL="0" lvl="0" indent="0" algn="ctr" rtl="0">
              <a:lnSpc>
                <a:spcPct val="90000"/>
              </a:lnSpc>
              <a:spcBef>
                <a:spcPts val="0"/>
              </a:spcBef>
              <a:spcAft>
                <a:spcPts val="0"/>
              </a:spcAft>
              <a:buClr>
                <a:schemeClr val="dk1"/>
              </a:buClr>
              <a:buSzPts val="4400"/>
              <a:buNone/>
            </a:pPr>
            <a:r>
              <a:rPr lang="en-US" dirty="0">
                <a:latin typeface="Arial Black"/>
                <a:sym typeface="Arial Black"/>
              </a:rPr>
              <a:t>Date – 27</a:t>
            </a:r>
            <a:r>
              <a:rPr lang="en-US" baseline="30000" dirty="0">
                <a:latin typeface="Arial Black"/>
                <a:sym typeface="Arial Black"/>
              </a:rPr>
              <a:t>th</a:t>
            </a:r>
            <a:r>
              <a:rPr lang="en-US" dirty="0">
                <a:latin typeface="Arial Black"/>
                <a:sym typeface="Arial Black"/>
              </a:rPr>
              <a:t> November, 2025</a:t>
            </a:r>
            <a:endParaRPr dirty="0"/>
          </a:p>
        </p:txBody>
      </p:sp>
      <p:sp>
        <p:nvSpPr>
          <p:cNvPr id="91" name="Google Shape;9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a:t>
            </a:fld>
            <a:endParaRPr>
              <a:solidFill>
                <a:schemeClr val="lt1"/>
              </a:solidFill>
            </a:endParaRPr>
          </a:p>
        </p:txBody>
      </p:sp>
      <p:sp>
        <p:nvSpPr>
          <p:cNvPr id="2" name="Rectangle 1"/>
          <p:cNvSpPr/>
          <p:nvPr/>
        </p:nvSpPr>
        <p:spPr>
          <a:xfrm>
            <a:off x="3570308" y="2626043"/>
            <a:ext cx="5051383" cy="2086725"/>
          </a:xfrm>
          <a:prstGeom prst="rect">
            <a:avLst/>
          </a:prstGeom>
        </p:spPr>
        <p:txBody>
          <a:bodyPr wrap="none">
            <a:spAutoFit/>
          </a:bodyPr>
          <a:lstStyle/>
          <a:p>
            <a:pPr lvl="0" algn="ctr">
              <a:lnSpc>
                <a:spcPct val="90000"/>
              </a:lnSpc>
              <a:buClr>
                <a:schemeClr val="dk1"/>
              </a:buClr>
              <a:buSzPts val="2800"/>
            </a:pPr>
            <a:r>
              <a:rPr lang="en-US" sz="2400" dirty="0">
                <a:solidFill>
                  <a:schemeClr val="dk1"/>
                </a:solidFill>
                <a:latin typeface="+mn-lt"/>
                <a:ea typeface="Calibri"/>
                <a:cs typeface="Calibri"/>
                <a:sym typeface="Calibri"/>
              </a:rPr>
              <a:t>Hitanshi Patil - 16010122283</a:t>
            </a:r>
          </a:p>
          <a:p>
            <a:pPr lvl="0" algn="ctr">
              <a:lnSpc>
                <a:spcPct val="90000"/>
              </a:lnSpc>
              <a:buClr>
                <a:schemeClr val="dk1"/>
              </a:buClr>
              <a:buSzPts val="2800"/>
            </a:pPr>
            <a:r>
              <a:rPr lang="en-US" sz="2400" dirty="0">
                <a:solidFill>
                  <a:schemeClr val="dk1"/>
                </a:solidFill>
                <a:latin typeface="+mn-lt"/>
                <a:ea typeface="Calibri"/>
                <a:cs typeface="Calibri"/>
                <a:sym typeface="Calibri"/>
              </a:rPr>
              <a:t>Harikrishnan Gopal – 16010122284</a:t>
            </a:r>
          </a:p>
          <a:p>
            <a:pPr lvl="0" algn="ctr">
              <a:lnSpc>
                <a:spcPct val="90000"/>
              </a:lnSpc>
              <a:buClr>
                <a:schemeClr val="dk1"/>
              </a:buClr>
              <a:buSzPts val="2800"/>
            </a:pPr>
            <a:r>
              <a:rPr lang="en-US" sz="2400" dirty="0">
                <a:solidFill>
                  <a:schemeClr val="dk1"/>
                </a:solidFill>
                <a:latin typeface="+mn-lt"/>
                <a:ea typeface="Calibri"/>
                <a:cs typeface="Calibri"/>
                <a:sym typeface="Calibri"/>
              </a:rPr>
              <a:t>Maurya </a:t>
            </a:r>
            <a:r>
              <a:rPr lang="en-US" sz="2400" dirty="0" err="1">
                <a:solidFill>
                  <a:schemeClr val="dk1"/>
                </a:solidFill>
                <a:latin typeface="+mn-lt"/>
                <a:ea typeface="Calibri"/>
                <a:cs typeface="Calibri"/>
                <a:sym typeface="Calibri"/>
              </a:rPr>
              <a:t>Ghogare</a:t>
            </a:r>
            <a:r>
              <a:rPr lang="en-US" sz="2400" dirty="0">
                <a:solidFill>
                  <a:schemeClr val="dk1"/>
                </a:solidFill>
                <a:latin typeface="+mn-lt"/>
                <a:ea typeface="Calibri"/>
                <a:cs typeface="Calibri"/>
                <a:sym typeface="Calibri"/>
              </a:rPr>
              <a:t> - </a:t>
            </a:r>
            <a:r>
              <a:rPr lang="en-US" sz="2400" dirty="0">
                <a:solidFill>
                  <a:schemeClr val="dk1"/>
                </a:solidFill>
                <a:ea typeface="Calibri"/>
                <a:cs typeface="Calibri"/>
                <a:sym typeface="Calibri"/>
              </a:rPr>
              <a:t>16010122285</a:t>
            </a:r>
            <a:endParaRPr lang="en-US" sz="2400" dirty="0">
              <a:solidFill>
                <a:schemeClr val="dk1"/>
              </a:solidFill>
              <a:latin typeface="+mn-lt"/>
              <a:ea typeface="Calibri"/>
              <a:cs typeface="Calibri"/>
              <a:sym typeface="Calibri"/>
            </a:endParaRPr>
          </a:p>
          <a:p>
            <a:pPr lvl="0" algn="ctr">
              <a:lnSpc>
                <a:spcPct val="90000"/>
              </a:lnSpc>
              <a:buClr>
                <a:schemeClr val="dk1"/>
              </a:buClr>
              <a:buSzPts val="2800"/>
            </a:pPr>
            <a:r>
              <a:rPr lang="en-US" sz="2400" dirty="0">
                <a:solidFill>
                  <a:schemeClr val="dk1"/>
                </a:solidFill>
                <a:latin typeface="+mn-lt"/>
                <a:ea typeface="Calibri"/>
                <a:cs typeface="Calibri"/>
                <a:sym typeface="Calibri"/>
              </a:rPr>
              <a:t>Sanika Pendurkar – </a:t>
            </a:r>
            <a:r>
              <a:rPr lang="en-US" sz="2400" dirty="0">
                <a:solidFill>
                  <a:schemeClr val="dk1"/>
                </a:solidFill>
                <a:ea typeface="Calibri"/>
                <a:cs typeface="Calibri"/>
                <a:sym typeface="Calibri"/>
              </a:rPr>
              <a:t>16010122286</a:t>
            </a:r>
            <a:endParaRPr lang="en-US" sz="2400" dirty="0">
              <a:solidFill>
                <a:schemeClr val="dk1"/>
              </a:solidFill>
              <a:latin typeface="+mn-lt"/>
              <a:ea typeface="Calibri"/>
              <a:cs typeface="Calibri"/>
              <a:sym typeface="Calibri"/>
            </a:endParaRPr>
          </a:p>
          <a:p>
            <a:pPr lvl="0" algn="ctr">
              <a:lnSpc>
                <a:spcPct val="90000"/>
              </a:lnSpc>
              <a:buClr>
                <a:schemeClr val="dk1"/>
              </a:buClr>
              <a:buSzPts val="2800"/>
            </a:pPr>
            <a:endParaRPr lang="en-US" sz="2400" dirty="0">
              <a:solidFill>
                <a:schemeClr val="dk1"/>
              </a:solidFill>
              <a:latin typeface="+mn-lt"/>
              <a:ea typeface="Calibri"/>
              <a:cs typeface="Calibri"/>
              <a:sym typeface="Calibri"/>
            </a:endParaRPr>
          </a:p>
          <a:p>
            <a:pPr algn="ctr">
              <a:lnSpc>
                <a:spcPct val="90000"/>
              </a:lnSpc>
              <a:buClr>
                <a:schemeClr val="dk1"/>
              </a:buClr>
              <a:buSzPts val="2800"/>
            </a:pPr>
            <a:r>
              <a:rPr lang="en-US" sz="2400" dirty="0">
                <a:solidFill>
                  <a:schemeClr val="dk1"/>
                </a:solidFill>
                <a:latin typeface="+mn-lt"/>
                <a:ea typeface="Calibri"/>
                <a:cs typeface="Calibri"/>
                <a:sym typeface="Calibri"/>
              </a:rPr>
              <a:t>Guide – Ms. </a:t>
            </a:r>
            <a:r>
              <a:rPr lang="en-US" sz="2400" dirty="0" err="1">
                <a:solidFill>
                  <a:schemeClr val="dk1"/>
                </a:solidFill>
                <a:latin typeface="+mn-lt"/>
                <a:ea typeface="Calibri"/>
                <a:cs typeface="Calibri"/>
                <a:sym typeface="Calibri"/>
              </a:rPr>
              <a:t>Kirti</a:t>
            </a:r>
            <a:r>
              <a:rPr lang="en-US" sz="2400" dirty="0">
                <a:solidFill>
                  <a:schemeClr val="dk1"/>
                </a:solidFill>
                <a:latin typeface="+mn-lt"/>
                <a:ea typeface="Calibri"/>
                <a:cs typeface="Calibri"/>
                <a:sym typeface="Calibri"/>
              </a:rPr>
              <a:t> Mishra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3917755" y="171005"/>
            <a:ext cx="4356483" cy="1325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000" b="1" dirty="0">
                <a:latin typeface="Calibri" pitchFamily="34" charset="0"/>
                <a:ea typeface="Calibri" pitchFamily="34" charset="0"/>
                <a:cs typeface="Calibri" pitchFamily="34" charset="0"/>
              </a:rPr>
              <a:t> Introduction</a:t>
            </a:r>
          </a:p>
        </p:txBody>
      </p:sp>
      <p:sp>
        <p:nvSpPr>
          <p:cNvPr id="112" name="Google Shape;11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a:t>
            </a:fld>
            <a:endParaRPr>
              <a:solidFill>
                <a:schemeClr val="lt1"/>
              </a:solidFill>
            </a:endParaRPr>
          </a:p>
        </p:txBody>
      </p:sp>
      <p:sp>
        <p:nvSpPr>
          <p:cNvPr id="6" name="Text Placeholder 5">
            <a:extLst>
              <a:ext uri="{FF2B5EF4-FFF2-40B4-BE49-F238E27FC236}">
                <a16:creationId xmlns:a16="http://schemas.microsoft.com/office/drawing/2014/main" id="{B48AD1D2-6299-9536-0D98-7E05DD2EAC6C}"/>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Wildfires cause major destruction to forests, wildlife habitats, property, and human life, making early detection extremely important.</a:t>
            </a:r>
          </a:p>
          <a:p>
            <a:r>
              <a:rPr lang="en-US" dirty="0"/>
              <a:t>Rising temperatures and dry conditions have increased the frequency and intensity of wildfire incidents.</a:t>
            </a:r>
          </a:p>
          <a:p>
            <a:r>
              <a:rPr lang="en-US" dirty="0"/>
              <a:t>Traditional detection methods like human observation and satellite monitoring are often slow, inconsistent, and limited, leading to delayed response.</a:t>
            </a:r>
          </a:p>
          <a:p>
            <a:r>
              <a:rPr lang="en-US" dirty="0"/>
              <a:t>Many remote forest areas lack constant human supervision, increasing the risk of fires going unnoticed.</a:t>
            </a:r>
          </a:p>
          <a:p>
            <a:r>
              <a:rPr lang="en-US" dirty="0"/>
              <a:t>Faster and automated detection enables quicker response, reducing spread, damage, and firefighting costs.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000" b="1" dirty="0">
                <a:latin typeface="Calibri" pitchFamily="34" charset="0"/>
                <a:ea typeface="Calibri" pitchFamily="34" charset="0"/>
                <a:cs typeface="Calibri" pitchFamily="34" charset="0"/>
              </a:rPr>
              <a:t> Problem Statement</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Manual wildfire monitoring is inconsistent, slow, and heavily dependent on human availability and judgment.</a:t>
            </a:r>
          </a:p>
          <a:p>
            <a:r>
              <a:rPr lang="en-US" dirty="0"/>
              <a:t>Smoke and flames exhibit large variations in shape, color, density, and movement, making them difficult to detect reliably with traditional methods.</a:t>
            </a:r>
          </a:p>
          <a:p>
            <a:r>
              <a:rPr lang="en-US" dirty="0"/>
              <a:t>Environmental factors such as fog, clouds, sunlight, and shadows often lead to misinterpretation or missed detections.</a:t>
            </a:r>
          </a:p>
          <a:p>
            <a:r>
              <a:rPr lang="en-US" dirty="0"/>
              <a:t>Many forested and remote areas lack continuous surveillance, increasing the chances of fires spreading unnoticed.</a:t>
            </a:r>
          </a:p>
          <a:p>
            <a:r>
              <a:rPr lang="en-US" dirty="0"/>
              <a:t>There is a need for an automated system capable of early and accurate fire detection in real-world unpredictable conditions.</a:t>
            </a:r>
          </a:p>
        </p:txBody>
      </p:sp>
    </p:spTree>
    <p:extLst>
      <p:ext uri="{BB962C8B-B14F-4D97-AF65-F5344CB8AC3E}">
        <p14:creationId xmlns:p14="http://schemas.microsoft.com/office/powerpoint/2010/main" val="1536296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000" b="1" dirty="0">
                <a:latin typeface="Calibri" pitchFamily="34" charset="0"/>
                <a:ea typeface="Calibri" pitchFamily="34" charset="0"/>
                <a:cs typeface="Calibri" pitchFamily="34" charset="0"/>
              </a:rPr>
              <a:t>Motivation</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4</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218877"/>
            <a:ext cx="12053095" cy="4999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Many regions in India, such as </a:t>
            </a:r>
            <a:r>
              <a:rPr lang="en-US" dirty="0" err="1"/>
              <a:t>Uttarakhand</a:t>
            </a:r>
            <a:r>
              <a:rPr lang="en-US" dirty="0"/>
              <a:t>, Himachal Pradesh, Odisha, and the North-East, experience frequent and damaging forest fires.</a:t>
            </a:r>
          </a:p>
          <a:p>
            <a:r>
              <a:rPr lang="en-US" dirty="0"/>
              <a:t>Over </a:t>
            </a:r>
            <a:r>
              <a:rPr lang="en-US" b="1" dirty="0"/>
              <a:t>half of India’s forest area is fire-prone</a:t>
            </a:r>
            <a:r>
              <a:rPr lang="en-US" dirty="0"/>
              <a:t>, making early detection essential for minimizing losses.</a:t>
            </a:r>
          </a:p>
          <a:p>
            <a:r>
              <a:rPr lang="en-US" dirty="0"/>
              <a:t>Remote and hilly forest terrains make manual monitoring difficult, slow, and unreliable.</a:t>
            </a:r>
          </a:p>
          <a:p>
            <a:r>
              <a:rPr lang="en-US" dirty="0"/>
              <a:t>Satellite alerts often arrive late or miss small fires due to cloud cover and low revisit frequency.</a:t>
            </a:r>
          </a:p>
          <a:p>
            <a:r>
              <a:rPr lang="en-US" dirty="0"/>
              <a:t>An AI-based automated detection system can provide </a:t>
            </a:r>
            <a:r>
              <a:rPr lang="en-US" b="1" dirty="0"/>
              <a:t>real-time monitoring</a:t>
            </a:r>
            <a:r>
              <a:rPr lang="en-US" dirty="0"/>
              <a:t>, faster response, and better protection of India’s forests, wildlife, and communities.</a:t>
            </a:r>
          </a:p>
        </p:txBody>
      </p:sp>
    </p:spTree>
    <p:extLst>
      <p:ext uri="{BB962C8B-B14F-4D97-AF65-F5344CB8AC3E}">
        <p14:creationId xmlns:p14="http://schemas.microsoft.com/office/powerpoint/2010/main" val="532267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B5FC5E9-0F0C-CC4D-CD26-F93B34F4D52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14D1EE7E-8326-DFAF-D46B-D009CC301C4E}"/>
              </a:ext>
            </a:extLst>
          </p:cNvPr>
          <p:cNvSpPr txBox="1">
            <a:spLocks noGrp="1"/>
          </p:cNvSpPr>
          <p:nvPr>
            <p:ph type="title"/>
          </p:nvPr>
        </p:nvSpPr>
        <p:spPr>
          <a:xfrm>
            <a:off x="3917757" y="269080"/>
            <a:ext cx="435648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t>Literature Survey</a:t>
            </a:r>
            <a:endParaRPr lang="en-US" sz="4000" b="1" dirty="0">
              <a:latin typeface="Calibri" pitchFamily="34" charset="0"/>
              <a:ea typeface="Calibri" pitchFamily="34" charset="0"/>
              <a:cs typeface="Calibri" pitchFamily="34" charset="0"/>
            </a:endParaRPr>
          </a:p>
        </p:txBody>
      </p:sp>
      <p:sp>
        <p:nvSpPr>
          <p:cNvPr id="112" name="Google Shape;112;p3">
            <a:extLst>
              <a:ext uri="{FF2B5EF4-FFF2-40B4-BE49-F238E27FC236}">
                <a16:creationId xmlns:a16="http://schemas.microsoft.com/office/drawing/2014/main" id="{87BDCDE0-1ED3-C5F3-5686-418DAE4E6D5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5</a:t>
            </a:fld>
            <a:endParaRPr>
              <a:solidFill>
                <a:schemeClr val="lt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03547790"/>
              </p:ext>
            </p:extLst>
          </p:nvPr>
        </p:nvGraphicFramePr>
        <p:xfrm>
          <a:off x="263352" y="1268760"/>
          <a:ext cx="11665296" cy="4408426"/>
        </p:xfrm>
        <a:graphic>
          <a:graphicData uri="http://schemas.openxmlformats.org/drawingml/2006/table">
            <a:tbl>
              <a:tblPr firstRow="1" firstCol="1" bandRow="1">
                <a:tableStyleId>{5A111915-BE36-4E01-A7E5-04B1672EAD32}</a:tableStyleId>
              </a:tblPr>
              <a:tblGrid>
                <a:gridCol w="1724695">
                  <a:extLst>
                    <a:ext uri="{9D8B030D-6E8A-4147-A177-3AD203B41FA5}">
                      <a16:colId xmlns:a16="http://schemas.microsoft.com/office/drawing/2014/main" val="20000"/>
                    </a:ext>
                  </a:extLst>
                </a:gridCol>
                <a:gridCol w="1936889">
                  <a:extLst>
                    <a:ext uri="{9D8B030D-6E8A-4147-A177-3AD203B41FA5}">
                      <a16:colId xmlns:a16="http://schemas.microsoft.com/office/drawing/2014/main" val="20001"/>
                    </a:ext>
                  </a:extLst>
                </a:gridCol>
                <a:gridCol w="1284782">
                  <a:extLst>
                    <a:ext uri="{9D8B030D-6E8A-4147-A177-3AD203B41FA5}">
                      <a16:colId xmlns:a16="http://schemas.microsoft.com/office/drawing/2014/main" val="20002"/>
                    </a:ext>
                  </a:extLst>
                </a:gridCol>
                <a:gridCol w="1975687">
                  <a:extLst>
                    <a:ext uri="{9D8B030D-6E8A-4147-A177-3AD203B41FA5}">
                      <a16:colId xmlns:a16="http://schemas.microsoft.com/office/drawing/2014/main" val="20003"/>
                    </a:ext>
                  </a:extLst>
                </a:gridCol>
                <a:gridCol w="1314543">
                  <a:extLst>
                    <a:ext uri="{9D8B030D-6E8A-4147-A177-3AD203B41FA5}">
                      <a16:colId xmlns:a16="http://schemas.microsoft.com/office/drawing/2014/main" val="20004"/>
                    </a:ext>
                  </a:extLst>
                </a:gridCol>
                <a:gridCol w="1661302">
                  <a:extLst>
                    <a:ext uri="{9D8B030D-6E8A-4147-A177-3AD203B41FA5}">
                      <a16:colId xmlns:a16="http://schemas.microsoft.com/office/drawing/2014/main" val="20005"/>
                    </a:ext>
                  </a:extLst>
                </a:gridCol>
                <a:gridCol w="1767398">
                  <a:extLst>
                    <a:ext uri="{9D8B030D-6E8A-4147-A177-3AD203B41FA5}">
                      <a16:colId xmlns:a16="http://schemas.microsoft.com/office/drawing/2014/main" val="20006"/>
                    </a:ext>
                  </a:extLst>
                </a:gridCol>
              </a:tblGrid>
              <a:tr h="59445">
                <a:tc>
                  <a:txBody>
                    <a:bodyPr/>
                    <a:lstStyle/>
                    <a:p>
                      <a:pPr>
                        <a:lnSpc>
                          <a:spcPct val="107000"/>
                        </a:lnSpc>
                        <a:spcAft>
                          <a:spcPts val="800"/>
                        </a:spcAft>
                      </a:pPr>
                      <a:r>
                        <a:rPr lang="en-IN" sz="800" kern="100" dirty="0">
                          <a:effectLst/>
                        </a:rPr>
                        <a:t>Paper Title (Author, Year, Journal/Conference)</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Methodology</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Dataset Used</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Observation of Proposed Methodology</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Pros</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Cons</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Findings</a:t>
                      </a:r>
                      <a:endParaRPr lang="en-IN" sz="800" kern="100" dirty="0">
                        <a:effectLst/>
                        <a:latin typeface="Calibri"/>
                        <a:ea typeface="Calibri"/>
                        <a:cs typeface="Times New Roman"/>
                      </a:endParaRPr>
                    </a:p>
                  </a:txBody>
                  <a:tcPr marL="4545" marR="4545" marT="0" marB="0"/>
                </a:tc>
                <a:extLst>
                  <a:ext uri="{0D108BD9-81ED-4DB2-BD59-A6C34878D82A}">
                    <a16:rowId xmlns:a16="http://schemas.microsoft.com/office/drawing/2014/main" val="10000"/>
                  </a:ext>
                </a:extLst>
              </a:tr>
              <a:tr h="535001">
                <a:tc>
                  <a:txBody>
                    <a:bodyPr/>
                    <a:lstStyle/>
                    <a:p>
                      <a:pPr>
                        <a:lnSpc>
                          <a:spcPct val="107000"/>
                        </a:lnSpc>
                        <a:spcAft>
                          <a:spcPts val="800"/>
                        </a:spcAft>
                      </a:pPr>
                      <a:r>
                        <a:rPr lang="en-IN" sz="800" kern="100">
                          <a:effectLst/>
                        </a:rPr>
                        <a:t>1. Wildfire prediction over a 5-day period using geo-spatial environmental data (Illarionova et al., 2025, Scientific Reports)</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Compares multiple AI families for 5-day wildfire occurrence prediction: Random Forest, XGBoost, Attention-MLP, ConvLSTM, RegNetX (image-based), and an MLP Autoencoder for anomaly detection. Proposes a full pipeline for data collection, fusion, preprocessing and balanced sampling; introduces a custom F1_balanced metric for imbalanced spatio-temporal data.</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Multi-modal dataset with &gt;17,000 wildfire events across four large regions of Russia over 10 years. Includes meteorological variables, geo-spatial/topographic features, vegetation indices (NDVI/EVI, LAI, FPAR), population density and other anthropogenic indicators. All data resampled to ~650 m grid.</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Shows that classical ML (RF, </a:t>
                      </a:r>
                      <a:r>
                        <a:rPr lang="en-IN" sz="800" kern="100" dirty="0" err="1">
                          <a:effectLst/>
                        </a:rPr>
                        <a:t>XGBoost</a:t>
                      </a:r>
                      <a:r>
                        <a:rPr lang="en-IN" sz="800" kern="100" dirty="0">
                          <a:effectLst/>
                        </a:rPr>
                        <a:t>) perform very competitively, while </a:t>
                      </a:r>
                      <a:r>
                        <a:rPr lang="en-IN" sz="800" kern="100" dirty="0" err="1">
                          <a:effectLst/>
                        </a:rPr>
                        <a:t>ConvLSTM</a:t>
                      </a:r>
                      <a:r>
                        <a:rPr lang="en-IN" sz="800" kern="100" dirty="0">
                          <a:effectLst/>
                        </a:rPr>
                        <a:t> and </a:t>
                      </a:r>
                      <a:r>
                        <a:rPr lang="en-IN" sz="800" kern="100" dirty="0" err="1">
                          <a:effectLst/>
                        </a:rPr>
                        <a:t>RegNetX</a:t>
                      </a:r>
                      <a:r>
                        <a:rPr lang="en-IN" sz="800" kern="100" dirty="0">
                          <a:effectLst/>
                        </a:rPr>
                        <a:t> improve spatial modelling when sufficient image-like context is provided. Balanced sampling plus F1_balanced avoids misleadingly high scores from majority “no-fire” class. Visual grid-maps clearly highlight high-risk cells.</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Pros: Systematic pipeline; large, diverse dataset; evaluates several model families under same conditions; introduces fairer metrics; produces operationally useful grid-based probability maps.</a:t>
                      </a:r>
                      <a:endParaRPr lang="en-IN" sz="800" kern="100" dirty="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Cons: High data and compute requirements; model is region-specific (Russia) so transfer needs retraining; ConvLSTM/RegNetX are complex to deploy in low-resource settings.</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Ensemble tree methods plus </a:t>
                      </a:r>
                      <a:r>
                        <a:rPr lang="en-IN" sz="800" kern="100" dirty="0" err="1">
                          <a:effectLst/>
                        </a:rPr>
                        <a:t>ConvLSTM</a:t>
                      </a:r>
                      <a:r>
                        <a:rPr lang="en-IN" sz="800" kern="100" dirty="0">
                          <a:effectLst/>
                        </a:rPr>
                        <a:t>/</a:t>
                      </a:r>
                      <a:r>
                        <a:rPr lang="en-IN" sz="800" kern="100" dirty="0" err="1">
                          <a:effectLst/>
                        </a:rPr>
                        <a:t>RegNetX</a:t>
                      </a:r>
                      <a:r>
                        <a:rPr lang="en-IN" sz="800" kern="100" dirty="0">
                          <a:effectLst/>
                        </a:rPr>
                        <a:t> offer best trade-off between accuracy and interpretability. Meteorology (especially temperature, precipitation, drought indices) and some anthropogenic features are consistently dominant predictors, supporting their importance in operational fire risk systems.</a:t>
                      </a:r>
                      <a:endParaRPr lang="en-IN" sz="800" kern="100" dirty="0">
                        <a:effectLst/>
                        <a:latin typeface="Calibri"/>
                        <a:ea typeface="Calibri"/>
                        <a:cs typeface="Times New Roman"/>
                      </a:endParaRPr>
                    </a:p>
                  </a:txBody>
                  <a:tcPr marL="4545" marR="4545" marT="0" marB="0"/>
                </a:tc>
                <a:extLst>
                  <a:ext uri="{0D108BD9-81ED-4DB2-BD59-A6C34878D82A}">
                    <a16:rowId xmlns:a16="http://schemas.microsoft.com/office/drawing/2014/main" val="10001"/>
                  </a:ext>
                </a:extLst>
              </a:tr>
              <a:tr h="344778">
                <a:tc>
                  <a:txBody>
                    <a:bodyPr/>
                    <a:lstStyle/>
                    <a:p>
                      <a:pPr>
                        <a:lnSpc>
                          <a:spcPct val="107000"/>
                        </a:lnSpc>
                        <a:spcAft>
                          <a:spcPts val="800"/>
                        </a:spcAft>
                      </a:pPr>
                      <a:r>
                        <a:rPr lang="en-IN" sz="800" kern="100">
                          <a:effectLst/>
                        </a:rPr>
                        <a:t>2. Ensemble-based daily wildfire outbreak prediction with XAI for South Korea (Authors, 2025, Scientific Reports) </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Builds an ensemble of ML models (RF, gradient boosting, etc.) to predict daily wildfire outbreak probability at administrative unit scale, and interprets them with SHAP (explainable AI). Focuses on improving both prediction and transparency for practitioners.</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Year-round wildfire occurrence data for Gangwon State, South Korea, combined with meteorological, forest-related, and anthropogenic variables (e.g., land-use ratios, population density). </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Ensemble models significantly outperform simple baselines; SHAP analysis reveals which factors drive ignition risk in different seasons. Demonstrates that year-round modelling (not just fire season) is feasible but challenging.</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Pros: Strong accuracy; detailed feature importance via SHAP; directly supports decision-making by answering “why risk is high here today?”; uses realistic administrative units.</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Cons: Resolution limited to Si/Gun (not cell-level); meteorological data from limited stations can miss local variability; no deep learning image-based features yet.</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Shows that ensembles plus XAI effectively capture ignition patterns and provide interpretable guidance. Highlights importance of including forest structure and socio-economic variables along with weather, and suggests extending to national scale and integrating remote sensing in future systems. </a:t>
                      </a:r>
                      <a:endParaRPr lang="en-IN" sz="800" kern="100">
                        <a:effectLst/>
                        <a:latin typeface="Calibri"/>
                        <a:ea typeface="Calibri"/>
                        <a:cs typeface="Times New Roman"/>
                      </a:endParaRPr>
                    </a:p>
                  </a:txBody>
                  <a:tcPr marL="4545" marR="4545" marT="0" marB="0"/>
                </a:tc>
                <a:extLst>
                  <a:ext uri="{0D108BD9-81ED-4DB2-BD59-A6C34878D82A}">
                    <a16:rowId xmlns:a16="http://schemas.microsoft.com/office/drawing/2014/main" val="10002"/>
                  </a:ext>
                </a:extLst>
              </a:tr>
              <a:tr h="380445">
                <a:tc>
                  <a:txBody>
                    <a:bodyPr/>
                    <a:lstStyle/>
                    <a:p>
                      <a:pPr>
                        <a:lnSpc>
                          <a:spcPct val="107000"/>
                        </a:lnSpc>
                        <a:spcAft>
                          <a:spcPts val="800"/>
                        </a:spcAft>
                      </a:pPr>
                      <a:r>
                        <a:rPr lang="en-IN" sz="800" kern="100">
                          <a:effectLst/>
                        </a:rPr>
                        <a:t>3. GLSTD: Global–Local Spatio-Temporal Dependency model for wildfire risk (Authors, Year, Journal – Yunnan Province study)</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Proposes GLSTD deep model, combining global and local spatio-temporal dependencies using CNN/ConvLSTM-style blocks on multi-source wildfire-related factors. Compares with LR, SVM, RF, CNN, ConvLSTM using multiple metrics (Accuracy, Recall, F1, Kappa, etc.). Generates daily wildfire risk maps from weather + remote sensing data.</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Multi-source dataset for Yunnan Province, China: meteorological data (temperature, humidity, etc.), remote sensing imagery, ignition records, and other wildfire-related environmental factors, arranged into 25×25 image patches.</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GLSTD consistently outperforms traditional ML (LR, SVM, RF) and baseline deep models (CNN, ConvLSTM) on all metrics, especially Recall and F1, indicating better capture of complex spatio-temporal dependencies. Generates fine-scale risk maps with clear separation between low- and high-risk zones.</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Pros: Explicit modelling of both global and local spatio-temporal structure; strong predictive performance; end-to-end risk map generation pipeline; supports 5-level risk categorization used in operations.</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a:effectLst/>
                        </a:rPr>
                        <a:t>Cons: Architecturally complex; requires dense historical data and forecasts; may be less interpretable than tree-based models; training computationally heavy.</a:t>
                      </a:r>
                      <a:endParaRPr lang="en-IN" sz="800" kern="100">
                        <a:effectLst/>
                        <a:latin typeface="Calibri"/>
                        <a:ea typeface="Calibri"/>
                        <a:cs typeface="Times New Roman"/>
                      </a:endParaRPr>
                    </a:p>
                  </a:txBody>
                  <a:tcPr marL="4545" marR="4545" marT="0" marB="0"/>
                </a:tc>
                <a:tc>
                  <a:txBody>
                    <a:bodyPr/>
                    <a:lstStyle/>
                    <a:p>
                      <a:pPr>
                        <a:lnSpc>
                          <a:spcPct val="107000"/>
                        </a:lnSpc>
                        <a:spcAft>
                          <a:spcPts val="800"/>
                        </a:spcAft>
                      </a:pPr>
                      <a:r>
                        <a:rPr lang="en-IN" sz="800" kern="100" dirty="0">
                          <a:effectLst/>
                        </a:rPr>
                        <a:t>Demonstrates that combining global context (large-scale climate/land cover) with local patch dynamics yields more accurate wildfire risk prediction. GLSTD-based maps align well with historical ignition points and can guide prevention and resource allocation.</a:t>
                      </a:r>
                      <a:endParaRPr lang="en-IN" sz="800" kern="100" dirty="0">
                        <a:effectLst/>
                        <a:latin typeface="Calibri"/>
                        <a:ea typeface="Calibri"/>
                        <a:cs typeface="Times New Roman"/>
                      </a:endParaRPr>
                    </a:p>
                  </a:txBody>
                  <a:tcPr marL="4545" marR="4545"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53842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B5FC5E9-0F0C-CC4D-CD26-F93B34F4D52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14D1EE7E-8326-DFAF-D46B-D009CC301C4E}"/>
              </a:ext>
            </a:extLst>
          </p:cNvPr>
          <p:cNvSpPr txBox="1">
            <a:spLocks noGrp="1"/>
          </p:cNvSpPr>
          <p:nvPr>
            <p:ph type="title"/>
          </p:nvPr>
        </p:nvSpPr>
        <p:spPr>
          <a:xfrm>
            <a:off x="3917757" y="269080"/>
            <a:ext cx="435648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t>Literature Survey</a:t>
            </a:r>
            <a:endParaRPr lang="en-US" sz="4000" b="1" dirty="0">
              <a:latin typeface="Calibri" pitchFamily="34" charset="0"/>
              <a:ea typeface="Calibri" pitchFamily="34" charset="0"/>
              <a:cs typeface="Calibri" pitchFamily="34" charset="0"/>
            </a:endParaRPr>
          </a:p>
        </p:txBody>
      </p:sp>
      <p:sp>
        <p:nvSpPr>
          <p:cNvPr id="112" name="Google Shape;112;p3">
            <a:extLst>
              <a:ext uri="{FF2B5EF4-FFF2-40B4-BE49-F238E27FC236}">
                <a16:creationId xmlns:a16="http://schemas.microsoft.com/office/drawing/2014/main" id="{87BDCDE0-1ED3-C5F3-5686-418DAE4E6D5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6</a:t>
            </a:fld>
            <a:endParaRPr>
              <a:solidFill>
                <a:schemeClr val="lt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233403825"/>
              </p:ext>
            </p:extLst>
          </p:nvPr>
        </p:nvGraphicFramePr>
        <p:xfrm>
          <a:off x="371364" y="1412776"/>
          <a:ext cx="11449273" cy="4478986"/>
        </p:xfrm>
        <a:graphic>
          <a:graphicData uri="http://schemas.openxmlformats.org/drawingml/2006/table">
            <a:tbl>
              <a:tblPr firstRow="1" firstCol="1" bandRow="1">
                <a:tableStyleId>{5A111915-BE36-4E01-A7E5-04B1672EAD32}</a:tableStyleId>
              </a:tblPr>
              <a:tblGrid>
                <a:gridCol w="1692752">
                  <a:extLst>
                    <a:ext uri="{9D8B030D-6E8A-4147-A177-3AD203B41FA5}">
                      <a16:colId xmlns:a16="http://schemas.microsoft.com/office/drawing/2014/main" val="20000"/>
                    </a:ext>
                  </a:extLst>
                </a:gridCol>
                <a:gridCol w="1901017">
                  <a:extLst>
                    <a:ext uri="{9D8B030D-6E8A-4147-A177-3AD203B41FA5}">
                      <a16:colId xmlns:a16="http://schemas.microsoft.com/office/drawing/2014/main" val="20001"/>
                    </a:ext>
                  </a:extLst>
                </a:gridCol>
                <a:gridCol w="1260998">
                  <a:extLst>
                    <a:ext uri="{9D8B030D-6E8A-4147-A177-3AD203B41FA5}">
                      <a16:colId xmlns:a16="http://schemas.microsoft.com/office/drawing/2014/main" val="20002"/>
                    </a:ext>
                  </a:extLst>
                </a:gridCol>
                <a:gridCol w="1939109">
                  <a:extLst>
                    <a:ext uri="{9D8B030D-6E8A-4147-A177-3AD203B41FA5}">
                      <a16:colId xmlns:a16="http://schemas.microsoft.com/office/drawing/2014/main" val="20003"/>
                    </a:ext>
                  </a:extLst>
                </a:gridCol>
                <a:gridCol w="1290205">
                  <a:extLst>
                    <a:ext uri="{9D8B030D-6E8A-4147-A177-3AD203B41FA5}">
                      <a16:colId xmlns:a16="http://schemas.microsoft.com/office/drawing/2014/main" val="20004"/>
                    </a:ext>
                  </a:extLst>
                </a:gridCol>
                <a:gridCol w="1630532">
                  <a:extLst>
                    <a:ext uri="{9D8B030D-6E8A-4147-A177-3AD203B41FA5}">
                      <a16:colId xmlns:a16="http://schemas.microsoft.com/office/drawing/2014/main" val="20005"/>
                    </a:ext>
                  </a:extLst>
                </a:gridCol>
                <a:gridCol w="1734660">
                  <a:extLst>
                    <a:ext uri="{9D8B030D-6E8A-4147-A177-3AD203B41FA5}">
                      <a16:colId xmlns:a16="http://schemas.microsoft.com/office/drawing/2014/main" val="20006"/>
                    </a:ext>
                  </a:extLst>
                </a:gridCol>
              </a:tblGrid>
              <a:tr h="187558">
                <a:tc>
                  <a:txBody>
                    <a:bodyPr/>
                    <a:lstStyle/>
                    <a:p>
                      <a:pPr>
                        <a:lnSpc>
                          <a:spcPct val="107000"/>
                        </a:lnSpc>
                        <a:spcAft>
                          <a:spcPts val="800"/>
                        </a:spcAft>
                      </a:pPr>
                      <a:r>
                        <a:rPr lang="en-IN" sz="800" kern="100" dirty="0">
                          <a:effectLst/>
                        </a:rPr>
                        <a:t>Paper Title (Author, Year, Journal/Conference)</a:t>
                      </a:r>
                      <a:endParaRPr lang="en-IN" sz="800" kern="100" dirty="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Methodology</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Dataset Used</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Observation of Proposed Methodology</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Pros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Cons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Findings</a:t>
                      </a:r>
                      <a:endParaRPr lang="en-IN" sz="800" kern="100">
                        <a:effectLst/>
                        <a:latin typeface="Calibri"/>
                        <a:ea typeface="Calibri"/>
                        <a:cs typeface="Times New Roman"/>
                      </a:endParaRPr>
                    </a:p>
                  </a:txBody>
                  <a:tcPr marL="14341" marR="14341" marT="0" marB="0"/>
                </a:tc>
                <a:extLst>
                  <a:ext uri="{0D108BD9-81ED-4DB2-BD59-A6C34878D82A}">
                    <a16:rowId xmlns:a16="http://schemas.microsoft.com/office/drawing/2014/main" val="10000"/>
                  </a:ext>
                </a:extLst>
              </a:tr>
              <a:tr h="1237881">
                <a:tc>
                  <a:txBody>
                    <a:bodyPr/>
                    <a:lstStyle/>
                    <a:p>
                      <a:pPr>
                        <a:lnSpc>
                          <a:spcPct val="107000"/>
                        </a:lnSpc>
                        <a:spcAft>
                          <a:spcPts val="800"/>
                        </a:spcAft>
                      </a:pPr>
                      <a:r>
                        <a:rPr lang="en-IN" sz="800" kern="100" dirty="0">
                          <a:effectLst/>
                        </a:rPr>
                        <a:t>4. Paying Attention to Wildfire: Using U-Net with Attention Blocks on Multimodal Data for Next Day Prediction (Fitzgerald et al., 2023, ICMI ’23)</a:t>
                      </a:r>
                      <a:endParaRPr lang="en-IN" sz="800" kern="100" dirty="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Extends U-Net for wildfire prediction (Wildfire Prediction Network – WPN) with attention blocks and comparisons to multiple variants: U-Net, R2U-Net, AttU-Net, R2AttU-Net. Uses focal loss to tackle extreme class imbalance and experiments with different modality subsets (12, 7, 3 features, and “previous fire mask only”).</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Gridded dataset (32×32 or 64×64 patches) of next-day wildfire masks plus up to 12 input modalities: elevation, wind speed, humidity, drought, vegetation, population density, previous fire mask, etc.</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Attention-enhanced U-Net (WPN / AttU-Net) achieves top F1 scores, particularly when using a compact set of three core features (elevation, vegetation, previous fire mask). Focal loss improves learning on rare fire pixels and reduces training time compared to weighted BCE.</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Pros: Strong handling of class imbalance; spatially explicit predictions; attention improves focus on informative regions; flexible modality selection (performance remains good with fewer inputs); detailed analysis of “new fire pixels”.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Cons: Dataset has spatial bias (fires concentrated near patch centers), which models exploit; still moderate F1 scores due to task difficulty; Conv U-Nets are heavier than classical ML; interpretability is limited vs tree-based models.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Shows that attention-U-Net-style architectures can effectively integrate multimodal features for next-day grid prediction. Prior-day fire mask, topography and vegetation are extremely informative; models excel especially at predicting expansion of existing fires rather than brand-new ignitions.</a:t>
                      </a:r>
                      <a:endParaRPr lang="en-IN" sz="800" kern="100">
                        <a:effectLst/>
                        <a:latin typeface="Calibri"/>
                        <a:ea typeface="Calibri"/>
                        <a:cs typeface="Times New Roman"/>
                      </a:endParaRPr>
                    </a:p>
                  </a:txBody>
                  <a:tcPr marL="14341" marR="14341" marT="0" marB="0"/>
                </a:tc>
                <a:extLst>
                  <a:ext uri="{0D108BD9-81ED-4DB2-BD59-A6C34878D82A}">
                    <a16:rowId xmlns:a16="http://schemas.microsoft.com/office/drawing/2014/main" val="10001"/>
                  </a:ext>
                </a:extLst>
              </a:tr>
              <a:tr h="1162858">
                <a:tc>
                  <a:txBody>
                    <a:bodyPr/>
                    <a:lstStyle/>
                    <a:p>
                      <a:pPr>
                        <a:lnSpc>
                          <a:spcPct val="107000"/>
                        </a:lnSpc>
                        <a:spcAft>
                          <a:spcPts val="800"/>
                        </a:spcAft>
                      </a:pPr>
                      <a:r>
                        <a:rPr lang="en-IN" sz="800" kern="100" dirty="0">
                          <a:effectLst/>
                        </a:rPr>
                        <a:t>5. Integrated ML &amp; DL-based Wildfire Prediction and Detection with GUI (Authors, Year, IEEE/ICICCS conference)</a:t>
                      </a:r>
                      <a:endParaRPr lang="en-IN" sz="800" kern="100" dirty="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Two-part system: (1) Wildfire prediction using classical ML (Logistic Regression, Decision Tree, K-NN, Random Forest, XGBoost) on tabular historical data; (2) Wildfire detection using CNN and AlexNet on images, integrated into a Python-based GUI that supports EDA, data cleaning and model retraining.</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Tabular historical wildfire dataset (meteorological + other attributes) plus a satellite/fire image dataset (~6,660 images) for detection. GUI allows user-entered parameters for prediction and image upload for detection.</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XGBoost and Decision Tree achieve ≈97.26% accuracy, outperforming earlier decision-tree-only reference systems (~82.9%). CNN and AlexNet detectors achieve ≈95.09% and 92.22% accuracy respectively. GUI links both tasks in a user-friendly tool.</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Pros: Practical, end-to-end architecture (prediction + detection + GUI); high reported accuracies; supports retraining as new data arrive; demonstrates synergy between ML (tabular) and DL (images).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Cons: Modest image dataset size for deep learning; limited discussion of generalization and false-alarm rates; evaluation appears mostly offline (no long-term real deployment).</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Confirms that relatively standard ML and CNN/AlexNet models can reach high accuracies on curated wildfire datasets. Integrated GUI shows how such models could be operationalized for early warning and on-the-fly detection.</a:t>
                      </a:r>
                      <a:endParaRPr lang="en-IN" sz="800" kern="100">
                        <a:effectLst/>
                        <a:latin typeface="Calibri"/>
                        <a:ea typeface="Calibri"/>
                        <a:cs typeface="Times New Roman"/>
                      </a:endParaRPr>
                    </a:p>
                  </a:txBody>
                  <a:tcPr marL="14341" marR="14341" marT="0" marB="0"/>
                </a:tc>
                <a:extLst>
                  <a:ext uri="{0D108BD9-81ED-4DB2-BD59-A6C34878D82A}">
                    <a16:rowId xmlns:a16="http://schemas.microsoft.com/office/drawing/2014/main" val="10002"/>
                  </a:ext>
                </a:extLst>
              </a:tr>
              <a:tr h="1763042">
                <a:tc>
                  <a:txBody>
                    <a:bodyPr/>
                    <a:lstStyle/>
                    <a:p>
                      <a:pPr>
                        <a:lnSpc>
                          <a:spcPct val="107000"/>
                        </a:lnSpc>
                        <a:spcAft>
                          <a:spcPts val="800"/>
                        </a:spcAft>
                      </a:pPr>
                      <a:r>
                        <a:rPr lang="en-IN" sz="800" kern="100">
                          <a:effectLst/>
                        </a:rPr>
                        <a:t>6. WiPreSy – Wireless Prediction System for Forest Fires using IoT, Cloud and Deep Learning (Authors, 2020, ICICCS)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IoT-based real-time wildfire prediction system using BOLT IoT platform and Google Firebase. Collects sensor data (temperature, humidity, soil moisture, pressure, altitude) and feeds them, along with date and location, into a Dense Neural Network designed using Keras Functional API. Alerts pushed via Android app.</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On-site sensors: DHT11 (temperature, humidity), YL-69 (soil moisture), BMP280 (pressure, altitude). Data uploaded every 5 minutes to Bolt Cloud, stored/visualized as graphs and CSV, then pushed to Firebase for mobile app. Historic wildfire occurrence data are combined with live sensor readings for training/prediction.</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Demonstrates feasibility of continuous, real-time local prediction using low-cost sensors and cloud backend. Functional DNN with dual input (sensor vector + spatio-temporal info) captures non-linear patterns; mobile app displays fire likelihood levels (low/medium/high/very high) and sends notifications.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Pros: Low-cost, real-time monitoring; tight integration of IoT, cloud and ML; user-friendly mobile interface with history of alerts; can be deployed in specific high-risk forests.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a:effectLst/>
                        </a:rPr>
                        <a:t>Cons: Coverage limited to sensor locations; performance depends on sensor maintenance and network connectivity; lacks comparison with other ML algorithms and broader benchmark datasets.</a:t>
                      </a:r>
                      <a:endParaRPr lang="en-IN" sz="800" kern="100">
                        <a:effectLst/>
                        <a:latin typeface="Calibri"/>
                        <a:ea typeface="Calibri"/>
                        <a:cs typeface="Times New Roman"/>
                      </a:endParaRPr>
                    </a:p>
                  </a:txBody>
                  <a:tcPr marL="14341" marR="14341" marT="0" marB="0"/>
                </a:tc>
                <a:tc>
                  <a:txBody>
                    <a:bodyPr/>
                    <a:lstStyle/>
                    <a:p>
                      <a:pPr>
                        <a:lnSpc>
                          <a:spcPct val="107000"/>
                        </a:lnSpc>
                        <a:spcAft>
                          <a:spcPts val="800"/>
                        </a:spcAft>
                      </a:pPr>
                      <a:r>
                        <a:rPr lang="en-IN" sz="800" kern="100" dirty="0">
                          <a:effectLst/>
                        </a:rPr>
                        <a:t>Shows that </a:t>
                      </a:r>
                      <a:r>
                        <a:rPr lang="en-IN" sz="800" kern="100" dirty="0" err="1">
                          <a:effectLst/>
                        </a:rPr>
                        <a:t>IoT</a:t>
                      </a:r>
                      <a:r>
                        <a:rPr lang="en-IN" sz="800" kern="100" dirty="0">
                          <a:effectLst/>
                        </a:rPr>
                        <a:t> + cloud + DNN can enable continuous local wildfire risk prediction, improving over camera-only or satellite-only systems that lack real-time environmental sensing. Argues that more data over time will further improve accuracy.</a:t>
                      </a:r>
                      <a:endParaRPr lang="en-IN" sz="800" kern="100" dirty="0">
                        <a:effectLst/>
                        <a:latin typeface="Calibri"/>
                        <a:ea typeface="Calibri"/>
                        <a:cs typeface="Times New Roman"/>
                      </a:endParaRPr>
                    </a:p>
                  </a:txBody>
                  <a:tcPr marL="14341" marR="14341"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30406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B5FC5E9-0F0C-CC4D-CD26-F93B34F4D52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14D1EE7E-8326-DFAF-D46B-D009CC301C4E}"/>
              </a:ext>
            </a:extLst>
          </p:cNvPr>
          <p:cNvSpPr txBox="1">
            <a:spLocks noGrp="1"/>
          </p:cNvSpPr>
          <p:nvPr>
            <p:ph type="title"/>
          </p:nvPr>
        </p:nvSpPr>
        <p:spPr>
          <a:xfrm>
            <a:off x="3917757" y="269080"/>
            <a:ext cx="435648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t>Literature Survey</a:t>
            </a:r>
            <a:endParaRPr lang="en-US" sz="4000" b="1" dirty="0">
              <a:latin typeface="Calibri" pitchFamily="34" charset="0"/>
              <a:ea typeface="Calibri" pitchFamily="34" charset="0"/>
              <a:cs typeface="Calibri" pitchFamily="34" charset="0"/>
            </a:endParaRPr>
          </a:p>
        </p:txBody>
      </p:sp>
      <p:sp>
        <p:nvSpPr>
          <p:cNvPr id="112" name="Google Shape;112;p3">
            <a:extLst>
              <a:ext uri="{FF2B5EF4-FFF2-40B4-BE49-F238E27FC236}">
                <a16:creationId xmlns:a16="http://schemas.microsoft.com/office/drawing/2014/main" id="{87BDCDE0-1ED3-C5F3-5686-418DAE4E6D5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7</a:t>
            </a:fld>
            <a:endParaRPr>
              <a:solidFill>
                <a:schemeClr val="lt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884012460"/>
              </p:ext>
            </p:extLst>
          </p:nvPr>
        </p:nvGraphicFramePr>
        <p:xfrm>
          <a:off x="263353" y="1292257"/>
          <a:ext cx="11593286" cy="4408426"/>
        </p:xfrm>
        <a:graphic>
          <a:graphicData uri="http://schemas.openxmlformats.org/drawingml/2006/table">
            <a:tbl>
              <a:tblPr firstRow="1" firstCol="1" bandRow="1">
                <a:tableStyleId>{5A111915-BE36-4E01-A7E5-04B1672EAD32}</a:tableStyleId>
              </a:tblPr>
              <a:tblGrid>
                <a:gridCol w="1714050">
                  <a:extLst>
                    <a:ext uri="{9D8B030D-6E8A-4147-A177-3AD203B41FA5}">
                      <a16:colId xmlns:a16="http://schemas.microsoft.com/office/drawing/2014/main" val="20000"/>
                    </a:ext>
                  </a:extLst>
                </a:gridCol>
                <a:gridCol w="1924923">
                  <a:extLst>
                    <a:ext uri="{9D8B030D-6E8A-4147-A177-3AD203B41FA5}">
                      <a16:colId xmlns:a16="http://schemas.microsoft.com/office/drawing/2014/main" val="20001"/>
                    </a:ext>
                  </a:extLst>
                </a:gridCol>
                <a:gridCol w="1276855">
                  <a:extLst>
                    <a:ext uri="{9D8B030D-6E8A-4147-A177-3AD203B41FA5}">
                      <a16:colId xmlns:a16="http://schemas.microsoft.com/office/drawing/2014/main" val="20002"/>
                    </a:ext>
                  </a:extLst>
                </a:gridCol>
                <a:gridCol w="1963508">
                  <a:extLst>
                    <a:ext uri="{9D8B030D-6E8A-4147-A177-3AD203B41FA5}">
                      <a16:colId xmlns:a16="http://schemas.microsoft.com/office/drawing/2014/main" val="20003"/>
                    </a:ext>
                  </a:extLst>
                </a:gridCol>
                <a:gridCol w="1306436">
                  <a:extLst>
                    <a:ext uri="{9D8B030D-6E8A-4147-A177-3AD203B41FA5}">
                      <a16:colId xmlns:a16="http://schemas.microsoft.com/office/drawing/2014/main" val="20004"/>
                    </a:ext>
                  </a:extLst>
                </a:gridCol>
                <a:gridCol w="1651035">
                  <a:extLst>
                    <a:ext uri="{9D8B030D-6E8A-4147-A177-3AD203B41FA5}">
                      <a16:colId xmlns:a16="http://schemas.microsoft.com/office/drawing/2014/main" val="20005"/>
                    </a:ext>
                  </a:extLst>
                </a:gridCol>
                <a:gridCol w="1756479">
                  <a:extLst>
                    <a:ext uri="{9D8B030D-6E8A-4147-A177-3AD203B41FA5}">
                      <a16:colId xmlns:a16="http://schemas.microsoft.com/office/drawing/2014/main" val="20006"/>
                    </a:ext>
                  </a:extLst>
                </a:gridCol>
              </a:tblGrid>
              <a:tr h="146018">
                <a:tc>
                  <a:txBody>
                    <a:bodyPr/>
                    <a:lstStyle/>
                    <a:p>
                      <a:pPr>
                        <a:lnSpc>
                          <a:spcPct val="107000"/>
                        </a:lnSpc>
                        <a:spcAft>
                          <a:spcPts val="800"/>
                        </a:spcAft>
                      </a:pPr>
                      <a:r>
                        <a:rPr lang="en-IN" sz="800" kern="100" dirty="0">
                          <a:effectLst/>
                        </a:rPr>
                        <a:t>Paper Title (Author, Year, Journal/Conference)</a:t>
                      </a:r>
                      <a:endParaRPr lang="en-IN" sz="800" kern="100" dirty="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Methodology</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Dataset Used</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Observation of Proposed Methodology</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Pros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Cons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Findings</a:t>
                      </a:r>
                      <a:endParaRPr lang="en-IN" sz="800" kern="100">
                        <a:effectLst/>
                        <a:latin typeface="Calibri"/>
                        <a:ea typeface="Calibri"/>
                        <a:cs typeface="Times New Roman"/>
                      </a:endParaRPr>
                    </a:p>
                  </a:txBody>
                  <a:tcPr marL="11165" marR="11165" marT="0" marB="0"/>
                </a:tc>
                <a:extLst>
                  <a:ext uri="{0D108BD9-81ED-4DB2-BD59-A6C34878D82A}">
                    <a16:rowId xmlns:a16="http://schemas.microsoft.com/office/drawing/2014/main" val="10000"/>
                  </a:ext>
                </a:extLst>
              </a:tr>
              <a:tr h="905312">
                <a:tc>
                  <a:txBody>
                    <a:bodyPr/>
                    <a:lstStyle/>
                    <a:p>
                      <a:pPr>
                        <a:lnSpc>
                          <a:spcPct val="107000"/>
                        </a:lnSpc>
                        <a:spcAft>
                          <a:spcPts val="800"/>
                        </a:spcAft>
                      </a:pPr>
                      <a:r>
                        <a:rPr lang="en-IN" sz="800" kern="100">
                          <a:effectLst/>
                        </a:rPr>
                        <a:t>7. Forest Fire Occurrence Prediction in China Based on Machine Learning Methods (Pang et al., 2022, Remote Sensing)</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Compares multiple machine learning classifiers (e.g., RF, gradient boosting, SVM, etc.) to predict forest fire occurrence over China, emphasizing large-scale spatial modelling and factor importance analysis. Uses remote-sensing-derived predictors and meteorological variables.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Nationwide Chinese dataset with 14 years (2003–2016) of forest fire occurrence records, remote sensing products, and environmental factors (meteorology, topography, vegetation, human activity indicators). (</a:t>
                      </a:r>
                      <a:r>
                        <a:rPr lang="en-IN" sz="800" u="sng" kern="100">
                          <a:effectLst/>
                          <a:hlinkClick r:id="rId3" tooltip="Forest Fire Occurrence Prediction in China Based on ..."/>
                        </a:rPr>
                        <a:t>MDPI</a:t>
                      </a:r>
                      <a:r>
                        <a:rPr lang="en-IN" sz="800" kern="100">
                          <a:effectLst/>
                        </a:rPr>
                        <a:t>)</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Demonstrates that ensemble tree models achieve best performance and can robustly handle multi-source predictors. Highlights the spatial variation of feature importance and emphasizes remote-sensing indices and human activity variables.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Pros: Large national-scale dataset; systematic ML comparison; good interpretability via variable importance; policy-relevant insights at regional scale.</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Cons: Coarser spatial resolution than grid-cell DL works; does not deeply explore spatio-temporal deep learning; operational deployment not discussed.</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Confirms that ML ensembles are powerful for national-scale fire occurrence prediction and that combining meteorology, vegetation, and anthropogenic factors is crucial for accurate risk mapping in China. (</a:t>
                      </a:r>
                      <a:r>
                        <a:rPr lang="en-IN" sz="800" u="sng" kern="100">
                          <a:effectLst/>
                          <a:hlinkClick r:id="rId3" tooltip="Forest Fire Occurrence Prediction in China Based on ..."/>
                        </a:rPr>
                        <a:t>MDPI</a:t>
                      </a:r>
                      <a:r>
                        <a:rPr lang="en-IN" sz="800" kern="100">
                          <a:effectLst/>
                        </a:rPr>
                        <a:t>)</a:t>
                      </a:r>
                      <a:endParaRPr lang="en-IN" sz="800" kern="100">
                        <a:effectLst/>
                        <a:latin typeface="Calibri"/>
                        <a:ea typeface="Calibri"/>
                        <a:cs typeface="Times New Roman"/>
                      </a:endParaRPr>
                    </a:p>
                  </a:txBody>
                  <a:tcPr marL="11165" marR="11165" marT="0" marB="0"/>
                </a:tc>
                <a:extLst>
                  <a:ext uri="{0D108BD9-81ED-4DB2-BD59-A6C34878D82A}">
                    <a16:rowId xmlns:a16="http://schemas.microsoft.com/office/drawing/2014/main" val="10001"/>
                  </a:ext>
                </a:extLst>
              </a:tr>
              <a:tr h="1109737">
                <a:tc>
                  <a:txBody>
                    <a:bodyPr/>
                    <a:lstStyle/>
                    <a:p>
                      <a:pPr>
                        <a:lnSpc>
                          <a:spcPct val="107000"/>
                        </a:lnSpc>
                        <a:spcAft>
                          <a:spcPts val="800"/>
                        </a:spcAft>
                      </a:pPr>
                      <a:r>
                        <a:rPr lang="en-IN" sz="800" kern="100" dirty="0">
                          <a:effectLst/>
                        </a:rPr>
                        <a:t>8. Machine Learning for Wildfire Classification: Exploring </a:t>
                      </a:r>
                      <a:r>
                        <a:rPr lang="en-IN" sz="800" kern="100" dirty="0" err="1">
                          <a:effectLst/>
                        </a:rPr>
                        <a:t>Blackbox</a:t>
                      </a:r>
                      <a:r>
                        <a:rPr lang="en-IN" sz="800" kern="100" dirty="0">
                          <a:effectLst/>
                        </a:rPr>
                        <a:t>, </a:t>
                      </a:r>
                      <a:r>
                        <a:rPr lang="en-IN" sz="800" kern="100" dirty="0" err="1">
                          <a:effectLst/>
                        </a:rPr>
                        <a:t>eXplainable</a:t>
                      </a:r>
                      <a:r>
                        <a:rPr lang="en-IN" sz="800" kern="100" dirty="0">
                          <a:effectLst/>
                        </a:rPr>
                        <a:t>, Symbolic, and SMOTE Methods (Al-</a:t>
                      </a:r>
                      <a:r>
                        <a:rPr lang="en-IN" sz="800" kern="100" dirty="0" err="1">
                          <a:effectLst/>
                        </a:rPr>
                        <a:t>Bashiti</a:t>
                      </a:r>
                      <a:r>
                        <a:rPr lang="en-IN" sz="800" kern="100" dirty="0">
                          <a:effectLst/>
                        </a:rPr>
                        <a:t> &amp; </a:t>
                      </a:r>
                      <a:r>
                        <a:rPr lang="en-IN" sz="800" kern="100" dirty="0" err="1">
                          <a:effectLst/>
                        </a:rPr>
                        <a:t>Naser</a:t>
                      </a:r>
                      <a:r>
                        <a:rPr lang="en-IN" sz="800" kern="100" dirty="0">
                          <a:effectLst/>
                        </a:rPr>
                        <a:t>, 2022, Natural Hazards Research)</a:t>
                      </a:r>
                      <a:endParaRPr lang="en-IN" sz="800" kern="100" dirty="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Evaluates different ML paradigms (black-box models like XGBoost, explainable models, symbolic methods) for wildfire classification, with SMOTE to address class imbalance and SHAP for interpretability. Focus is on multi-class wildfire risk or occurrence classification.</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Historical wildfire and environmental dataset (region-specific; combines meteorological and geographic variables) prepared as a tabular classification problem with imbalanced classes. SMOTE used to synthetically oversample minority classes. (</a:t>
                      </a:r>
                      <a:r>
                        <a:rPr lang="en-IN" sz="800" u="sng" kern="100">
                          <a:effectLst/>
                          <a:hlinkClick r:id="rId4" tooltip="(PDF) Machine learning for wildfire classification: Exploring ..."/>
                        </a:rPr>
                        <a:t>ResearchGate</a:t>
                      </a:r>
                      <a:r>
                        <a:rPr lang="en-IN" sz="800" kern="100">
                          <a:effectLst/>
                        </a:rPr>
                        <a:t>)</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Shows that black-box models (e.g., XGBoost) achieve the highest accuracy and F1, while explainable and symbolic models provide improved transparency. SMOTE substantially improves minority-class performance. SHAP plots highlight which features drive each risk class.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Pros: Thorough comparison of model families; explicit imbalance handling; strong use of eXplainable AI; practical confusion-matrix and SHAP analyses.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Cons: Based on a specific dataset (generalization needs testing); black-box models still harder to interpret than symbolic; feature set is mostly tabular (no image-based context).</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Provides a blueprint for combining high-performing black-box ML with XAI and resampling for imbalanced wildfire classification tasks, and shows that interpretable insights can coexist with strong predictive power. (</a:t>
                      </a:r>
                      <a:r>
                        <a:rPr lang="en-IN" sz="800" u="sng" kern="100">
                          <a:effectLst/>
                          <a:hlinkClick r:id="rId5" tooltip="Machine learning for wildfire classification: Exploring ..."/>
                        </a:rPr>
                        <a:t>ScienceDirect</a:t>
                      </a:r>
                      <a:r>
                        <a:rPr lang="en-IN" sz="800" kern="100">
                          <a:effectLst/>
                        </a:rPr>
                        <a:t>)</a:t>
                      </a:r>
                      <a:endParaRPr lang="en-IN" sz="800" kern="100">
                        <a:effectLst/>
                        <a:latin typeface="Calibri"/>
                        <a:ea typeface="Calibri"/>
                        <a:cs typeface="Times New Roman"/>
                      </a:endParaRPr>
                    </a:p>
                  </a:txBody>
                  <a:tcPr marL="11165" marR="11165" marT="0" marB="0"/>
                </a:tc>
                <a:extLst>
                  <a:ext uri="{0D108BD9-81ED-4DB2-BD59-A6C34878D82A}">
                    <a16:rowId xmlns:a16="http://schemas.microsoft.com/office/drawing/2014/main" val="10002"/>
                  </a:ext>
                </a:extLst>
              </a:tr>
              <a:tr h="963719">
                <a:tc>
                  <a:txBody>
                    <a:bodyPr/>
                    <a:lstStyle/>
                    <a:p>
                      <a:pPr>
                        <a:lnSpc>
                          <a:spcPct val="107000"/>
                        </a:lnSpc>
                        <a:spcAft>
                          <a:spcPts val="800"/>
                        </a:spcAft>
                      </a:pPr>
                      <a:r>
                        <a:rPr lang="en-IN" sz="800" kern="100">
                          <a:effectLst/>
                        </a:rPr>
                        <a:t>9. Forest Fire Risk Prediction: A Spatial Deep Neural Network-Based Framework (Naderpour et al., 2021, Remote Sensing)</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Proposes a spatial deep neural network (SDNN) framework that integrates GIS layers and remote-sensing data to predict forest fire risk. Uses deep CNN-style architecture on gridded environmental variables and compares with traditional ML baselines.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Case-study region (e.g., in Australia or another high-risk area) with fire occurrence data plus spatial predictors: topography, land cover, vegetation indices, climate, distance to roads/settlements, etc., arranged as grid cells. (</a:t>
                      </a:r>
                      <a:r>
                        <a:rPr lang="en-IN" sz="800" u="sng" kern="100">
                          <a:effectLst/>
                          <a:hlinkClick r:id="rId6" tooltip="Forest Fire Risk Prediction: A Spatial Deep Neural Network ..."/>
                        </a:rPr>
                        <a:t>MDPI</a:t>
                      </a:r>
                      <a:r>
                        <a:rPr lang="en-IN" sz="800" kern="100">
                          <a:effectLst/>
                        </a:rPr>
                        <a:t>)</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SDNN outperforms classical ML models and traditional statistical approaches for risk mapping, particularly in capturing complex non-linear relationships and spatial patterns. Produces high-resolution fire risk maps that align with known historical hotspots.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Pros: Fully spatial deep learning framework; leverages rich GIS layers; strong predictive gains over baselines; produces visually interpretable risk maps for planning.</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a:effectLst/>
                        </a:rPr>
                        <a:t>Cons: Requires high-quality, high-resolution spatial data; deep model is relatively black-box; training and deployment are more demanding than RF-style models.</a:t>
                      </a:r>
                      <a:endParaRPr lang="en-IN" sz="800" kern="100">
                        <a:effectLst/>
                        <a:latin typeface="Calibri"/>
                        <a:ea typeface="Calibri"/>
                        <a:cs typeface="Times New Roman"/>
                      </a:endParaRPr>
                    </a:p>
                  </a:txBody>
                  <a:tcPr marL="11165" marR="11165" marT="0" marB="0"/>
                </a:tc>
                <a:tc>
                  <a:txBody>
                    <a:bodyPr/>
                    <a:lstStyle/>
                    <a:p>
                      <a:pPr>
                        <a:lnSpc>
                          <a:spcPct val="107000"/>
                        </a:lnSpc>
                        <a:spcAft>
                          <a:spcPts val="800"/>
                        </a:spcAft>
                      </a:pPr>
                      <a:r>
                        <a:rPr lang="en-IN" sz="800" kern="100" dirty="0">
                          <a:effectLst/>
                        </a:rPr>
                        <a:t>Demonstrates that spatial deep learning is well-suited for forest fire risk prediction and can support land-use planning, prevention and resource allocation through detailed risk maps. (</a:t>
                      </a:r>
                      <a:r>
                        <a:rPr lang="en-IN" sz="800" u="sng" kern="100" dirty="0">
                          <a:effectLst/>
                          <a:hlinkClick r:id="rId6" tooltip="Forest Fire Risk Prediction: A Spatial Deep Neural Network ..."/>
                        </a:rPr>
                        <a:t>MDPI</a:t>
                      </a:r>
                      <a:r>
                        <a:rPr lang="en-IN" sz="800" kern="100" dirty="0">
                          <a:effectLst/>
                        </a:rPr>
                        <a:t>)</a:t>
                      </a:r>
                      <a:endParaRPr lang="en-IN" sz="800" kern="100" dirty="0">
                        <a:effectLst/>
                        <a:latin typeface="Calibri"/>
                        <a:ea typeface="Calibri"/>
                        <a:cs typeface="Times New Roman"/>
                      </a:endParaRPr>
                    </a:p>
                  </a:txBody>
                  <a:tcPr marL="11165" marR="11165"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108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B5FC5E9-0F0C-CC4D-CD26-F93B34F4D52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14D1EE7E-8326-DFAF-D46B-D009CC301C4E}"/>
              </a:ext>
            </a:extLst>
          </p:cNvPr>
          <p:cNvSpPr txBox="1">
            <a:spLocks noGrp="1"/>
          </p:cNvSpPr>
          <p:nvPr>
            <p:ph type="title"/>
          </p:nvPr>
        </p:nvSpPr>
        <p:spPr>
          <a:xfrm>
            <a:off x="3917757" y="269080"/>
            <a:ext cx="435648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t>Literature Survey</a:t>
            </a:r>
            <a:endParaRPr lang="en-US" sz="4000" b="1" dirty="0">
              <a:latin typeface="Calibri" pitchFamily="34" charset="0"/>
              <a:ea typeface="Calibri" pitchFamily="34" charset="0"/>
              <a:cs typeface="Calibri" pitchFamily="34" charset="0"/>
            </a:endParaRPr>
          </a:p>
        </p:txBody>
      </p:sp>
      <p:sp>
        <p:nvSpPr>
          <p:cNvPr id="112" name="Google Shape;112;p3">
            <a:extLst>
              <a:ext uri="{FF2B5EF4-FFF2-40B4-BE49-F238E27FC236}">
                <a16:creationId xmlns:a16="http://schemas.microsoft.com/office/drawing/2014/main" id="{87BDCDE0-1ED3-C5F3-5686-418DAE4E6D5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8</a:t>
            </a:fld>
            <a:endParaRPr>
              <a:solidFill>
                <a:schemeClr val="lt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139908356"/>
              </p:ext>
            </p:extLst>
          </p:nvPr>
        </p:nvGraphicFramePr>
        <p:xfrm>
          <a:off x="335360" y="1652811"/>
          <a:ext cx="11521279" cy="2227637"/>
        </p:xfrm>
        <a:graphic>
          <a:graphicData uri="http://schemas.openxmlformats.org/drawingml/2006/table">
            <a:tbl>
              <a:tblPr firstRow="1" firstCol="1" bandRow="1">
                <a:tableStyleId>{5A111915-BE36-4E01-A7E5-04B1672EAD32}</a:tableStyleId>
              </a:tblPr>
              <a:tblGrid>
                <a:gridCol w="1703400">
                  <a:extLst>
                    <a:ext uri="{9D8B030D-6E8A-4147-A177-3AD203B41FA5}">
                      <a16:colId xmlns:a16="http://schemas.microsoft.com/office/drawing/2014/main" val="20000"/>
                    </a:ext>
                  </a:extLst>
                </a:gridCol>
                <a:gridCol w="1912973">
                  <a:extLst>
                    <a:ext uri="{9D8B030D-6E8A-4147-A177-3AD203B41FA5}">
                      <a16:colId xmlns:a16="http://schemas.microsoft.com/office/drawing/2014/main" val="20001"/>
                    </a:ext>
                  </a:extLst>
                </a:gridCol>
                <a:gridCol w="1268927">
                  <a:extLst>
                    <a:ext uri="{9D8B030D-6E8A-4147-A177-3AD203B41FA5}">
                      <a16:colId xmlns:a16="http://schemas.microsoft.com/office/drawing/2014/main" val="20002"/>
                    </a:ext>
                  </a:extLst>
                </a:gridCol>
                <a:gridCol w="1951306">
                  <a:extLst>
                    <a:ext uri="{9D8B030D-6E8A-4147-A177-3AD203B41FA5}">
                      <a16:colId xmlns:a16="http://schemas.microsoft.com/office/drawing/2014/main" val="20003"/>
                    </a:ext>
                  </a:extLst>
                </a:gridCol>
                <a:gridCol w="1298316">
                  <a:extLst>
                    <a:ext uri="{9D8B030D-6E8A-4147-A177-3AD203B41FA5}">
                      <a16:colId xmlns:a16="http://schemas.microsoft.com/office/drawing/2014/main" val="20004"/>
                    </a:ext>
                  </a:extLst>
                </a:gridCol>
                <a:gridCol w="1640786">
                  <a:extLst>
                    <a:ext uri="{9D8B030D-6E8A-4147-A177-3AD203B41FA5}">
                      <a16:colId xmlns:a16="http://schemas.microsoft.com/office/drawing/2014/main" val="20005"/>
                    </a:ext>
                  </a:extLst>
                </a:gridCol>
                <a:gridCol w="1745571">
                  <a:extLst>
                    <a:ext uri="{9D8B030D-6E8A-4147-A177-3AD203B41FA5}">
                      <a16:colId xmlns:a16="http://schemas.microsoft.com/office/drawing/2014/main" val="20006"/>
                    </a:ext>
                  </a:extLst>
                </a:gridCol>
              </a:tblGrid>
              <a:tr h="234919">
                <a:tc>
                  <a:txBody>
                    <a:bodyPr/>
                    <a:lstStyle/>
                    <a:p>
                      <a:pPr>
                        <a:lnSpc>
                          <a:spcPct val="107000"/>
                        </a:lnSpc>
                        <a:spcAft>
                          <a:spcPts val="800"/>
                        </a:spcAft>
                      </a:pPr>
                      <a:r>
                        <a:rPr lang="en-IN" sz="800" kern="100" dirty="0">
                          <a:effectLst/>
                        </a:rPr>
                        <a:t>Paper Title (Author, Year, Journal/Conference)</a:t>
                      </a:r>
                      <a:endParaRPr lang="en-IN" sz="800" kern="100" dirty="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Methodology</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Dataset Used</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Observation of Proposed Methodology</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Pros</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Cons</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Findings</a:t>
                      </a:r>
                      <a:endParaRPr lang="en-IN" sz="800" kern="100">
                        <a:effectLst/>
                        <a:latin typeface="Calibri"/>
                        <a:ea typeface="Calibri"/>
                        <a:cs typeface="Times New Roman"/>
                      </a:endParaRPr>
                    </a:p>
                  </a:txBody>
                  <a:tcPr marL="35394" marR="35394" marT="0" marB="0"/>
                </a:tc>
                <a:extLst>
                  <a:ext uri="{0D108BD9-81ED-4DB2-BD59-A6C34878D82A}">
                    <a16:rowId xmlns:a16="http://schemas.microsoft.com/office/drawing/2014/main" val="10000"/>
                  </a:ext>
                </a:extLst>
              </a:tr>
              <a:tr h="1973319">
                <a:tc>
                  <a:txBody>
                    <a:bodyPr/>
                    <a:lstStyle/>
                    <a:p>
                      <a:pPr>
                        <a:lnSpc>
                          <a:spcPct val="107000"/>
                        </a:lnSpc>
                        <a:spcAft>
                          <a:spcPts val="800"/>
                        </a:spcAft>
                      </a:pPr>
                      <a:r>
                        <a:rPr lang="en-IN" sz="800" kern="100">
                          <a:effectLst/>
                        </a:rPr>
                        <a:t>10. Spatial Prediction of Wildfire Probability in the Hyrcanian Ecoregion Using Evidential Belief Function (EBF) Model and GIS (Nami et al., 2018, International Journal of Environmental Science and Technology)</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Uses Evidential Belief Function (EBF) within a GIS framework to map wildfire probability. Combines multiple evidence layers (environmental and anthropogenic factors) and computes belief/plausibility for fire occurrence, validated via ROC/AUC.</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Hyrcanian ecoregion wildfire inventory plus spatial predictors: topography, vegetation, climate variables, distance to roads/settlements, human footprint, etc. Fire events and non-fire samples are used to train and validate EBF-based susceptibility maps. (</a:t>
                      </a:r>
                      <a:r>
                        <a:rPr lang="en-IN" sz="800" u="sng" kern="100">
                          <a:effectLst/>
                          <a:hlinkClick r:id="rId3" tooltip="MODIS Web - NASA"/>
                        </a:rPr>
                        <a:t>modis.gsfc.nasa.gov</a:t>
                      </a:r>
                      <a:r>
                        <a:rPr lang="en-IN" sz="800" kern="100">
                          <a:effectLst/>
                        </a:rPr>
                        <a:t>)</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EBF model produces wildfire probability maps with AUC &gt; 0.7, indicating good predictive skill. High-risk zones show strong spatial correspondence with observed wildfires, proving EBF’s capability in multi-criteria fire susceptibility mapping.</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Pros: Conceptually simple, transparent multi-criteria framework; well-suited to GIS workflows; does not require large labelled datasets as deep learning; strong validation via AUC.</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a:effectLst/>
                        </a:rPr>
                        <a:t>Cons: Static susceptibility (not dynamic daily forecasts); does not capture complex temporal dynamics; depends heavily on quality/selection of input layers; less flexible than modern ML/DL.</a:t>
                      </a:r>
                      <a:endParaRPr lang="en-IN" sz="800" kern="100">
                        <a:effectLst/>
                        <a:latin typeface="Calibri"/>
                        <a:ea typeface="Calibri"/>
                        <a:cs typeface="Times New Roman"/>
                      </a:endParaRPr>
                    </a:p>
                  </a:txBody>
                  <a:tcPr marL="35394" marR="35394" marT="0" marB="0"/>
                </a:tc>
                <a:tc>
                  <a:txBody>
                    <a:bodyPr/>
                    <a:lstStyle/>
                    <a:p>
                      <a:pPr>
                        <a:lnSpc>
                          <a:spcPct val="107000"/>
                        </a:lnSpc>
                        <a:spcAft>
                          <a:spcPts val="800"/>
                        </a:spcAft>
                      </a:pPr>
                      <a:r>
                        <a:rPr lang="en-IN" sz="800" kern="100" dirty="0">
                          <a:effectLst/>
                        </a:rPr>
                        <a:t>Confirms that EBF+GIS is a reliable method for regional wildfire probability mapping and that relative humidity, land surface temperature, wind speed and human factors are among the most influential drivers of wildfire probability. (</a:t>
                      </a:r>
                      <a:r>
                        <a:rPr lang="en-IN" sz="800" u="sng" kern="100" dirty="0">
                          <a:effectLst/>
                          <a:hlinkClick r:id="rId3" tooltip="MODIS Web - NASA"/>
                        </a:rPr>
                        <a:t>modis.gsfc.nasa.gov</a:t>
                      </a:r>
                      <a:r>
                        <a:rPr lang="en-IN" sz="800" kern="100" dirty="0">
                          <a:effectLst/>
                        </a:rPr>
                        <a:t>)</a:t>
                      </a:r>
                      <a:endParaRPr lang="en-IN" sz="800" kern="100" dirty="0">
                        <a:effectLst/>
                        <a:latin typeface="Calibri"/>
                        <a:ea typeface="Calibri"/>
                        <a:cs typeface="Times New Roman"/>
                      </a:endParaRPr>
                    </a:p>
                  </a:txBody>
                  <a:tcPr marL="35394" marR="35394"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45407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B5FC5E9-0F0C-CC4D-CD26-F93B34F4D52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14D1EE7E-8326-DFAF-D46B-D009CC301C4E}"/>
              </a:ext>
            </a:extLst>
          </p:cNvPr>
          <p:cNvSpPr txBox="1">
            <a:spLocks noGrp="1"/>
          </p:cNvSpPr>
          <p:nvPr>
            <p:ph type="title"/>
          </p:nvPr>
        </p:nvSpPr>
        <p:spPr>
          <a:xfrm>
            <a:off x="3917757" y="269080"/>
            <a:ext cx="435648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t>Research Gap</a:t>
            </a:r>
            <a:endParaRPr lang="en-US" sz="4000" b="1" dirty="0">
              <a:latin typeface="Calibri" pitchFamily="34" charset="0"/>
              <a:ea typeface="Calibri" pitchFamily="34" charset="0"/>
              <a:cs typeface="Calibri" pitchFamily="34" charset="0"/>
            </a:endParaRPr>
          </a:p>
        </p:txBody>
      </p:sp>
      <p:sp>
        <p:nvSpPr>
          <p:cNvPr id="112" name="Google Shape;112;p3">
            <a:extLst>
              <a:ext uri="{FF2B5EF4-FFF2-40B4-BE49-F238E27FC236}">
                <a16:creationId xmlns:a16="http://schemas.microsoft.com/office/drawing/2014/main" id="{87BDCDE0-1ED3-C5F3-5686-418DAE4E6D5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9</a:t>
            </a:fld>
            <a:endParaRPr>
              <a:solidFill>
                <a:schemeClr val="lt1"/>
              </a:solidFill>
            </a:endParaRPr>
          </a:p>
        </p:txBody>
      </p:sp>
      <p:sp>
        <p:nvSpPr>
          <p:cNvPr id="6" name="Text Placeholder 5">
            <a:extLst>
              <a:ext uri="{FF2B5EF4-FFF2-40B4-BE49-F238E27FC236}">
                <a16:creationId xmlns:a16="http://schemas.microsoft.com/office/drawing/2014/main" id="{DBF8F24F-8AB5-0D7B-463F-0A9AC57662B8}"/>
              </a:ext>
            </a:extLst>
          </p:cNvPr>
          <p:cNvSpPr>
            <a:spLocks noGrp="1" noChangeArrowheads="1"/>
          </p:cNvSpPr>
          <p:nvPr>
            <p:ph type="body" idx="1"/>
          </p:nvPr>
        </p:nvSpPr>
        <p:spPr bwMode="auto">
          <a:xfrm>
            <a:off x="-96688" y="1520581"/>
            <a:ext cx="12529392" cy="4483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High-parameter models</a:t>
            </a:r>
            <a:r>
              <a:rPr lang="en-US" dirty="0"/>
              <a:t> (U-Net variants: 8–40M parameters, </a:t>
            </a:r>
            <a:r>
              <a:rPr lang="en-US" dirty="0" err="1"/>
              <a:t>AlexNet</a:t>
            </a:r>
            <a:r>
              <a:rPr lang="en-US" dirty="0"/>
              <a:t>: 60M+) deliver strong accuracy but cannot run on low-memory or embedded hardware.</a:t>
            </a:r>
          </a:p>
          <a:p>
            <a:r>
              <a:rPr lang="en-US" dirty="0" err="1"/>
              <a:t>IoT</a:t>
            </a:r>
            <a:r>
              <a:rPr lang="en-US" dirty="0"/>
              <a:t>-based systems use only </a:t>
            </a:r>
            <a:r>
              <a:rPr lang="en-US" b="1" dirty="0"/>
              <a:t>simple dense neural networks</a:t>
            </a:r>
            <a:r>
              <a:rPr lang="en-US" dirty="0"/>
              <a:t> and do not incorporate image-based detection due to the </a:t>
            </a:r>
            <a:r>
              <a:rPr lang="en-US" b="1" dirty="0"/>
              <a:t>computational burden</a:t>
            </a:r>
            <a:r>
              <a:rPr lang="en-US" dirty="0"/>
              <a:t> of conventional CNNs.</a:t>
            </a:r>
          </a:p>
          <a:p>
            <a:r>
              <a:rPr lang="en-US" dirty="0"/>
              <a:t>Current research focuses on </a:t>
            </a:r>
            <a:r>
              <a:rPr lang="en-US" b="1" dirty="0"/>
              <a:t>accuracy improvements</a:t>
            </a:r>
            <a:r>
              <a:rPr lang="en-US" dirty="0"/>
              <a:t>, but neglects </a:t>
            </a:r>
            <a:r>
              <a:rPr lang="en-US" b="1" dirty="0"/>
              <a:t>lightweight architecture design</a:t>
            </a:r>
            <a:r>
              <a:rPr lang="en-US" dirty="0"/>
              <a:t>, </a:t>
            </a:r>
            <a:r>
              <a:rPr lang="en-US" b="1" dirty="0"/>
              <a:t>model compression</a:t>
            </a:r>
            <a:r>
              <a:rPr lang="en-US" dirty="0"/>
              <a:t>, or </a:t>
            </a:r>
            <a:r>
              <a:rPr lang="en-US" b="1" dirty="0"/>
              <a:t>edge-device compatibility</a:t>
            </a:r>
            <a:r>
              <a:rPr lang="en-US" dirty="0"/>
              <a:t>.</a:t>
            </a:r>
          </a:p>
          <a:p>
            <a:r>
              <a:rPr lang="en-US" dirty="0"/>
              <a:t>For effective early wildfire detection, </a:t>
            </a:r>
            <a:r>
              <a:rPr lang="en-US" b="1" dirty="0"/>
              <a:t>latency, power consumption, inference speed, and model size</a:t>
            </a:r>
            <a:r>
              <a:rPr lang="en-US" dirty="0"/>
              <a:t> are as critical as accuracy—yet these constraints are largely unaddressed in past work.</a:t>
            </a:r>
          </a:p>
        </p:txBody>
      </p:sp>
    </p:spTree>
    <p:extLst>
      <p:ext uri="{BB962C8B-B14F-4D97-AF65-F5344CB8AC3E}">
        <p14:creationId xmlns:p14="http://schemas.microsoft.com/office/powerpoint/2010/main" val="1224557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000" b="1" dirty="0">
                <a:latin typeface="Calibri" pitchFamily="34" charset="0"/>
                <a:ea typeface="Calibri" pitchFamily="34" charset="0"/>
                <a:cs typeface="Calibri" pitchFamily="34" charset="0"/>
              </a:rPr>
              <a:t>Objectives</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10</a:t>
            </a:fld>
            <a:endParaRPr>
              <a:solidFill>
                <a:schemeClr val="lt1"/>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543" y="1196752"/>
            <a:ext cx="10662914" cy="452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4391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000" b="1" dirty="0">
                <a:latin typeface="Calibri" pitchFamily="34" charset="0"/>
                <a:ea typeface="Calibri" pitchFamily="34" charset="0"/>
                <a:cs typeface="Calibri" pitchFamily="34" charset="0"/>
              </a:rPr>
              <a:t>Dataset Description</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11</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The dataset consists of a diverse collection of </a:t>
            </a:r>
            <a:r>
              <a:rPr lang="en-US" b="1" dirty="0"/>
              <a:t>fire and non-fire images</a:t>
            </a:r>
            <a:r>
              <a:rPr lang="en-US" dirty="0"/>
              <a:t>, captured under various environmental and lighting conditions.</a:t>
            </a:r>
          </a:p>
          <a:p>
            <a:r>
              <a:rPr lang="en-US" dirty="0"/>
              <a:t>Fire images include clear flames, dense smoke, light smoke trails, and mixed scenes containing both smoke and flame.</a:t>
            </a:r>
          </a:p>
          <a:p>
            <a:r>
              <a:rPr lang="en-US" dirty="0"/>
              <a:t>Non-fire images include forest landscapes, cloudy skies, foggy conditions, sunlight reflections, and regular vegetation that might resemble smoke.</a:t>
            </a:r>
          </a:p>
          <a:p>
            <a:r>
              <a:rPr lang="en-US" dirty="0"/>
              <a:t>A major challenge is that </a:t>
            </a:r>
            <a:r>
              <a:rPr lang="en-US" b="1" dirty="0"/>
              <a:t>smoke is amorphous</a:t>
            </a:r>
            <a:r>
              <a:rPr lang="en-US" dirty="0"/>
              <a:t> and can look similar to fog, mist, haze, or cloud formations, making classification difficult.</a:t>
            </a:r>
          </a:p>
          <a:p>
            <a:r>
              <a:rPr lang="en-US" dirty="0"/>
              <a:t>Flame patterns vary greatly in size, shape, color, and intensity, while lighting and background appearance change drastically across images.</a:t>
            </a:r>
          </a:p>
        </p:txBody>
      </p:sp>
    </p:spTree>
    <p:extLst>
      <p:ext uri="{BB962C8B-B14F-4D97-AF65-F5344CB8AC3E}">
        <p14:creationId xmlns:p14="http://schemas.microsoft.com/office/powerpoint/2010/main" val="1759216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503712" y="188640"/>
            <a:ext cx="592266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Training Pipeline Overview</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12</a:t>
            </a:fld>
            <a:endParaRPr>
              <a:solidFill>
                <a:schemeClr val="lt1"/>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1268760"/>
            <a:ext cx="7200800" cy="5051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24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Stage 1: Baseline Transfer Learning</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13</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err="1"/>
              <a:t>Pretrained</a:t>
            </a:r>
            <a:r>
              <a:rPr lang="en-US" dirty="0"/>
              <a:t> ImageNet models were used to quickly generate a baseline for wildfire detection performance.</a:t>
            </a:r>
          </a:p>
          <a:p>
            <a:r>
              <a:rPr lang="en-US" dirty="0"/>
              <a:t>Convolution layers were </a:t>
            </a:r>
            <a:r>
              <a:rPr lang="en-US" b="1" dirty="0"/>
              <a:t>frozen</a:t>
            </a:r>
            <a:r>
              <a:rPr lang="en-US" dirty="0"/>
              <a:t>, and only the final classification head was trained.</a:t>
            </a:r>
          </a:p>
          <a:p>
            <a:r>
              <a:rPr lang="en-US" dirty="0"/>
              <a:t>The goal was to reuse general visual features like edges, textures, and shapes learned from large-scale datasets.</a:t>
            </a:r>
          </a:p>
          <a:p>
            <a:r>
              <a:rPr lang="en-US" dirty="0"/>
              <a:t>This stage tested how well generic ImageNet knowledge transfers to fire, smoke, and forest scene images.</a:t>
            </a:r>
          </a:p>
          <a:p>
            <a:r>
              <a:rPr lang="en-US" dirty="0"/>
              <a:t>Models evaluated in this stage included </a:t>
            </a:r>
            <a:r>
              <a:rPr lang="en-US" b="1" dirty="0"/>
              <a:t>VGG16, VGG19, ResNet50, ResNet50V2, EfficientNetB0, and MobileNetV3 (Small &amp; Large)</a:t>
            </a:r>
            <a:r>
              <a:rPr lang="en-US" dirty="0"/>
              <a:t>.</a:t>
            </a:r>
          </a:p>
        </p:txBody>
      </p:sp>
    </p:spTree>
    <p:extLst>
      <p:ext uri="{BB962C8B-B14F-4D97-AF65-F5344CB8AC3E}">
        <p14:creationId xmlns:p14="http://schemas.microsoft.com/office/powerpoint/2010/main" val="9751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Stage 1: Observations</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14</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Transfer learning alone proved insufficient for capturing the complex appearance of smoke and flames.</a:t>
            </a:r>
          </a:p>
          <a:p>
            <a:r>
              <a:rPr lang="en-US" dirty="0"/>
              <a:t>Most models achieved </a:t>
            </a:r>
            <a:r>
              <a:rPr lang="en-US" b="1" dirty="0"/>
              <a:t>less than 96% accuracy</a:t>
            </a:r>
            <a:r>
              <a:rPr lang="en-US" dirty="0"/>
              <a:t>, indicating limited specialization.</a:t>
            </a:r>
          </a:p>
          <a:p>
            <a:r>
              <a:rPr lang="en-US" dirty="0"/>
              <a:t>ImageNet-learned filters struggled with wildfire-specific variations like smoke density and irregular flame shapes.</a:t>
            </a:r>
          </a:p>
          <a:p>
            <a:r>
              <a:rPr lang="en-US" dirty="0"/>
              <a:t>Lightweight architectures showed frequent misclassifications due to similar-looking elements like fog, clouds, and glare.</a:t>
            </a:r>
          </a:p>
          <a:p>
            <a:r>
              <a:rPr lang="en-US" dirty="0"/>
              <a:t>These results highlighted the need for </a:t>
            </a:r>
            <a:r>
              <a:rPr lang="en-US" b="1" dirty="0"/>
              <a:t>fine-tuning</a:t>
            </a:r>
            <a:r>
              <a:rPr lang="en-US" dirty="0"/>
              <a:t> and more specialized training in the following stages.</a:t>
            </a:r>
          </a:p>
        </p:txBody>
      </p:sp>
    </p:spTree>
    <p:extLst>
      <p:ext uri="{BB962C8B-B14F-4D97-AF65-F5344CB8AC3E}">
        <p14:creationId xmlns:p14="http://schemas.microsoft.com/office/powerpoint/2010/main" val="2819807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Stage 2: Fine-Tuning Process</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15</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Based on Stage 1 results, the top three performers — </a:t>
            </a:r>
            <a:r>
              <a:rPr lang="en-US" b="1" dirty="0"/>
              <a:t>VGG16, VGG19, and ResNet50V2</a:t>
            </a:r>
            <a:r>
              <a:rPr lang="en-US" dirty="0"/>
              <a:t> — were selected for deeper training.</a:t>
            </a:r>
          </a:p>
          <a:p>
            <a:r>
              <a:rPr lang="en-US" dirty="0"/>
              <a:t>The </a:t>
            </a:r>
            <a:r>
              <a:rPr lang="en-US" b="1" dirty="0"/>
              <a:t>top 20 layers of each model were unfrozen</a:t>
            </a:r>
            <a:r>
              <a:rPr lang="en-US" dirty="0"/>
              <a:t>, allowing the network to learn wildfire-specific visual patterns.</a:t>
            </a:r>
          </a:p>
          <a:p>
            <a:r>
              <a:rPr lang="en-US" dirty="0"/>
              <a:t>Fine-tuning helped the models adapt deeper filters to recognize </a:t>
            </a:r>
            <a:r>
              <a:rPr lang="en-US" b="1" dirty="0"/>
              <a:t>smoke gradients, flame color variations, and subtle texture distortions</a:t>
            </a:r>
            <a:r>
              <a:rPr lang="en-US" dirty="0"/>
              <a:t>.</a:t>
            </a:r>
          </a:p>
          <a:p>
            <a:r>
              <a:rPr lang="en-US" dirty="0"/>
              <a:t>This process significantly improved the model’s ability to specialize in wildfire scenarios rather than relying only on generic ImageNet features.</a:t>
            </a:r>
          </a:p>
          <a:p>
            <a:r>
              <a:rPr lang="en-US" dirty="0"/>
              <a:t>A </a:t>
            </a:r>
            <a:r>
              <a:rPr lang="en-US" b="1" dirty="0"/>
              <a:t>lower learning rate</a:t>
            </a:r>
            <a:r>
              <a:rPr lang="en-US" dirty="0"/>
              <a:t> was used to prevent catastrophic forgetting and ensure stable, controlled updating of deeper layers.	</a:t>
            </a:r>
          </a:p>
        </p:txBody>
      </p:sp>
    </p:spTree>
    <p:extLst>
      <p:ext uri="{BB962C8B-B14F-4D97-AF65-F5344CB8AC3E}">
        <p14:creationId xmlns:p14="http://schemas.microsoft.com/office/powerpoint/2010/main" val="1971552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Stage 2: Impact</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16</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606675"/>
            <a:ext cx="12053095" cy="4223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Fine-tuning produced a major accuracy boost, with </a:t>
            </a:r>
            <a:r>
              <a:rPr lang="en-US" b="1" dirty="0"/>
              <a:t>VGG19 improving from 94.21% to 99.17%</a:t>
            </a:r>
            <a:r>
              <a:rPr lang="en-US" dirty="0"/>
              <a:t>.</a:t>
            </a:r>
          </a:p>
          <a:p>
            <a:r>
              <a:rPr lang="en-US" b="1" dirty="0"/>
              <a:t>VGG16 also saw a strong improvement</a:t>
            </a:r>
            <a:r>
              <a:rPr lang="en-US" dirty="0"/>
              <a:t>, increasing from 95.41% to 99.10%.</a:t>
            </a:r>
          </a:p>
          <a:p>
            <a:r>
              <a:rPr lang="en-US" dirty="0"/>
              <a:t>These results clearly show that transfer learning alone is not enough — fine-tuning is essential for high wildfire detection performance.</a:t>
            </a:r>
          </a:p>
          <a:p>
            <a:r>
              <a:rPr lang="en-US" dirty="0"/>
              <a:t>The models became more sensitive to </a:t>
            </a:r>
            <a:r>
              <a:rPr lang="en-US" b="1" dirty="0"/>
              <a:t>low-contrast smoke</a:t>
            </a:r>
            <a:r>
              <a:rPr lang="en-US" dirty="0"/>
              <a:t>, background variations, and early-stage flame patterns.</a:t>
            </a:r>
          </a:p>
          <a:p>
            <a:r>
              <a:rPr lang="en-US" dirty="0"/>
              <a:t>Overall, fine-tuning made the networks far more reliable and robust in differentiating fire from non-fire scenarios.</a:t>
            </a:r>
          </a:p>
        </p:txBody>
      </p:sp>
    </p:spTree>
    <p:extLst>
      <p:ext uri="{BB962C8B-B14F-4D97-AF65-F5344CB8AC3E}">
        <p14:creationId xmlns:p14="http://schemas.microsoft.com/office/powerpoint/2010/main" val="4055094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Stage 3: </a:t>
            </a:r>
            <a:r>
              <a:rPr lang="en-US" sz="4000" b="1" dirty="0" err="1">
                <a:latin typeface="Calibri" pitchFamily="34" charset="0"/>
                <a:ea typeface="Calibri" pitchFamily="34" charset="0"/>
                <a:cs typeface="Calibri" pitchFamily="34" charset="0"/>
              </a:rPr>
              <a:t>FireNet</a:t>
            </a:r>
            <a:r>
              <a:rPr lang="en-US" sz="4000" b="1" dirty="0">
                <a:latin typeface="Calibri" pitchFamily="34" charset="0"/>
                <a:ea typeface="Calibri" pitchFamily="34" charset="0"/>
                <a:cs typeface="Calibri" pitchFamily="34" charset="0"/>
              </a:rPr>
              <a:t> Architecture</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17</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err="1"/>
              <a:t>FireNet</a:t>
            </a:r>
            <a:r>
              <a:rPr lang="en-US" dirty="0"/>
              <a:t> was implemented based on the </a:t>
            </a:r>
            <a:r>
              <a:rPr lang="en-US" dirty="0" err="1"/>
              <a:t>FireNet</a:t>
            </a:r>
            <a:r>
              <a:rPr lang="en-US" dirty="0"/>
              <a:t>-CNN research paper, specifically designed for wildfire image analysis.</a:t>
            </a:r>
          </a:p>
          <a:p>
            <a:r>
              <a:rPr lang="en-US" dirty="0"/>
              <a:t>It uses a </a:t>
            </a:r>
            <a:r>
              <a:rPr lang="en-US" b="1" dirty="0"/>
              <a:t>custom 5-block convolutional architecture</a:t>
            </a:r>
            <a:r>
              <a:rPr lang="en-US" dirty="0"/>
              <a:t> that is more tuned to flame and smoke detection than generic CNNs.</a:t>
            </a:r>
          </a:p>
          <a:p>
            <a:r>
              <a:rPr lang="en-US" dirty="0"/>
              <a:t>The model processes images at a resolution of </a:t>
            </a:r>
            <a:r>
              <a:rPr lang="en-US" b="1" dirty="0"/>
              <a:t>150×150</a:t>
            </a:r>
            <a:r>
              <a:rPr lang="en-US" dirty="0"/>
              <a:t>, balancing detail with computational efficiency.</a:t>
            </a:r>
          </a:p>
          <a:p>
            <a:r>
              <a:rPr lang="en-US" dirty="0"/>
              <a:t>With approximately </a:t>
            </a:r>
            <a:r>
              <a:rPr lang="en-US" b="1" dirty="0"/>
              <a:t>6.5 million parameters</a:t>
            </a:r>
            <a:r>
              <a:rPr lang="en-US" dirty="0"/>
              <a:t>, </a:t>
            </a:r>
            <a:r>
              <a:rPr lang="en-US" dirty="0" err="1"/>
              <a:t>FireNet</a:t>
            </a:r>
            <a:r>
              <a:rPr lang="en-US" dirty="0"/>
              <a:t> is moderately lightweight compared to large models like VGG.</a:t>
            </a:r>
          </a:p>
          <a:p>
            <a:r>
              <a:rPr lang="en-US" dirty="0"/>
              <a:t>This architecture served as a </a:t>
            </a:r>
            <a:r>
              <a:rPr lang="en-US" b="1" dirty="0"/>
              <a:t>specialized benchmark</a:t>
            </a:r>
            <a:r>
              <a:rPr lang="en-US" dirty="0"/>
              <a:t>, helping compare traditional </a:t>
            </a:r>
            <a:r>
              <a:rPr lang="en-US" dirty="0" err="1"/>
              <a:t>pretrained</a:t>
            </a:r>
            <a:r>
              <a:rPr lang="en-US" dirty="0"/>
              <a:t> models with wildfire-specific networks.</a:t>
            </a:r>
          </a:p>
        </p:txBody>
      </p:sp>
    </p:spTree>
    <p:extLst>
      <p:ext uri="{BB962C8B-B14F-4D97-AF65-F5344CB8AC3E}">
        <p14:creationId xmlns:p14="http://schemas.microsoft.com/office/powerpoint/2010/main" val="1490245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Stage 4: </a:t>
            </a:r>
            <a:r>
              <a:rPr lang="en-US" sz="4000" b="1" dirty="0" err="1">
                <a:latin typeface="Calibri" pitchFamily="34" charset="0"/>
                <a:ea typeface="Calibri" pitchFamily="34" charset="0"/>
                <a:cs typeface="Calibri" pitchFamily="34" charset="0"/>
              </a:rPr>
              <a:t>WildfireNet</a:t>
            </a:r>
            <a:r>
              <a:rPr lang="en-US" sz="4000" b="1" dirty="0">
                <a:latin typeface="Calibri" pitchFamily="34" charset="0"/>
                <a:ea typeface="Calibri" pitchFamily="34" charset="0"/>
                <a:cs typeface="Calibri" pitchFamily="34" charset="0"/>
              </a:rPr>
              <a:t> (Custom Model)</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18</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err="1"/>
              <a:t>WildfireNet</a:t>
            </a:r>
            <a:r>
              <a:rPr lang="en-US" dirty="0"/>
              <a:t> is a </a:t>
            </a:r>
            <a:r>
              <a:rPr lang="en-US" b="1" dirty="0"/>
              <a:t>custom CNN designed from scratch</a:t>
            </a:r>
            <a:r>
              <a:rPr lang="en-US" dirty="0"/>
              <a:t> to deliver high performance while staying extremely efficient.</a:t>
            </a:r>
          </a:p>
          <a:p>
            <a:r>
              <a:rPr lang="en-US" dirty="0"/>
              <a:t>It incorporates </a:t>
            </a:r>
            <a:r>
              <a:rPr lang="en-US" b="1" dirty="0"/>
              <a:t>residual connections</a:t>
            </a:r>
            <a:r>
              <a:rPr lang="en-US" dirty="0"/>
              <a:t> to improve gradient flow, making the network stable and preventing vanishing gradient issues during training.</a:t>
            </a:r>
          </a:p>
          <a:p>
            <a:r>
              <a:rPr lang="en-US" dirty="0"/>
              <a:t>A </a:t>
            </a:r>
            <a:r>
              <a:rPr lang="en-US" b="1" dirty="0"/>
              <a:t>channel attention mechanism</a:t>
            </a:r>
            <a:r>
              <a:rPr lang="en-US" dirty="0"/>
              <a:t> helps the model focus on important color cues and intensity variations typical in smoke and fire imagery.</a:t>
            </a:r>
          </a:p>
          <a:p>
            <a:r>
              <a:rPr lang="en-US" dirty="0"/>
              <a:t>A </a:t>
            </a:r>
            <a:r>
              <a:rPr lang="en-US" b="1" dirty="0"/>
              <a:t>spatial attention module</a:t>
            </a:r>
            <a:r>
              <a:rPr lang="en-US" dirty="0"/>
              <a:t> directs the model to the exact regions where fire or smoke patterns appear, improving detection accuracy.</a:t>
            </a:r>
          </a:p>
          <a:p>
            <a:r>
              <a:rPr lang="en-US" dirty="0"/>
              <a:t>With only </a:t>
            </a:r>
            <a:r>
              <a:rPr lang="en-US" b="1" dirty="0"/>
              <a:t>~5.1M parameters</a:t>
            </a:r>
            <a:r>
              <a:rPr lang="en-US" dirty="0"/>
              <a:t>, </a:t>
            </a:r>
            <a:r>
              <a:rPr lang="en-US" dirty="0" err="1"/>
              <a:t>WildfireNet</a:t>
            </a:r>
            <a:r>
              <a:rPr lang="en-US" dirty="0"/>
              <a:t> is lightweight and optimized for </a:t>
            </a:r>
            <a:r>
              <a:rPr lang="en-US" b="1" dirty="0" err="1"/>
              <a:t>IoT</a:t>
            </a:r>
            <a:r>
              <a:rPr lang="en-US" b="1" dirty="0"/>
              <a:t> devices, drones, surveillance cameras, and real-time edge deployment</a:t>
            </a:r>
            <a:r>
              <a:rPr lang="en-US" dirty="0"/>
              <a:t>.</a:t>
            </a:r>
          </a:p>
        </p:txBody>
      </p:sp>
    </p:spTree>
    <p:extLst>
      <p:ext uri="{BB962C8B-B14F-4D97-AF65-F5344CB8AC3E}">
        <p14:creationId xmlns:p14="http://schemas.microsoft.com/office/powerpoint/2010/main" val="127535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4482501"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Stage 4: </a:t>
            </a:r>
            <a:r>
              <a:rPr lang="en-US" sz="4000" b="1" dirty="0" err="1">
                <a:latin typeface="Calibri" pitchFamily="34" charset="0"/>
                <a:ea typeface="Calibri" pitchFamily="34" charset="0"/>
                <a:cs typeface="Calibri" pitchFamily="34" charset="0"/>
              </a:rPr>
              <a:t>WildfireNet</a:t>
            </a:r>
            <a:r>
              <a:rPr lang="en-US" sz="4000" b="1" dirty="0">
                <a:latin typeface="Calibri" pitchFamily="34" charset="0"/>
                <a:ea typeface="Calibri" pitchFamily="34" charset="0"/>
                <a:cs typeface="Calibri" pitchFamily="34" charset="0"/>
              </a:rPr>
              <a:t> Architecture</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19</a:t>
            </a:fld>
            <a:endParaRPr>
              <a:solidFill>
                <a:schemeClr val="lt1"/>
              </a:solidFill>
            </a:endParaRPr>
          </a:p>
        </p:txBody>
      </p:sp>
      <p:pic>
        <p:nvPicPr>
          <p:cNvPr id="3074" name="Picture 2" descr="C:\Users\KJSCE\Downloads\wildfirenet_diag_page-00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12" y="1628800"/>
            <a:ext cx="11492527" cy="3816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150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5346597"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Comparative Performance Overview</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20</a:t>
            </a:fld>
            <a:endParaRPr>
              <a:solidFill>
                <a:schemeClr val="lt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4126200779"/>
              </p:ext>
            </p:extLst>
          </p:nvPr>
        </p:nvGraphicFramePr>
        <p:xfrm>
          <a:off x="335360" y="1412776"/>
          <a:ext cx="11593288" cy="4677554"/>
        </p:xfrm>
        <a:graphic>
          <a:graphicData uri="http://schemas.openxmlformats.org/drawingml/2006/table">
            <a:tbl>
              <a:tblPr>
                <a:tableStyleId>{9DCAF9ED-07DC-4A11-8D7F-57B35C25682E}</a:tableStyleId>
              </a:tblPr>
              <a:tblGrid>
                <a:gridCol w="1449161">
                  <a:extLst>
                    <a:ext uri="{9D8B030D-6E8A-4147-A177-3AD203B41FA5}">
                      <a16:colId xmlns:a16="http://schemas.microsoft.com/office/drawing/2014/main" val="20000"/>
                    </a:ext>
                  </a:extLst>
                </a:gridCol>
                <a:gridCol w="1449161">
                  <a:extLst>
                    <a:ext uri="{9D8B030D-6E8A-4147-A177-3AD203B41FA5}">
                      <a16:colId xmlns:a16="http://schemas.microsoft.com/office/drawing/2014/main" val="20001"/>
                    </a:ext>
                  </a:extLst>
                </a:gridCol>
                <a:gridCol w="1449161">
                  <a:extLst>
                    <a:ext uri="{9D8B030D-6E8A-4147-A177-3AD203B41FA5}">
                      <a16:colId xmlns:a16="http://schemas.microsoft.com/office/drawing/2014/main" val="20002"/>
                    </a:ext>
                  </a:extLst>
                </a:gridCol>
                <a:gridCol w="1449161">
                  <a:extLst>
                    <a:ext uri="{9D8B030D-6E8A-4147-A177-3AD203B41FA5}">
                      <a16:colId xmlns:a16="http://schemas.microsoft.com/office/drawing/2014/main" val="20003"/>
                    </a:ext>
                  </a:extLst>
                </a:gridCol>
                <a:gridCol w="1449161">
                  <a:extLst>
                    <a:ext uri="{9D8B030D-6E8A-4147-A177-3AD203B41FA5}">
                      <a16:colId xmlns:a16="http://schemas.microsoft.com/office/drawing/2014/main" val="20004"/>
                    </a:ext>
                  </a:extLst>
                </a:gridCol>
                <a:gridCol w="1449161">
                  <a:extLst>
                    <a:ext uri="{9D8B030D-6E8A-4147-A177-3AD203B41FA5}">
                      <a16:colId xmlns:a16="http://schemas.microsoft.com/office/drawing/2014/main" val="20005"/>
                    </a:ext>
                  </a:extLst>
                </a:gridCol>
                <a:gridCol w="1449161">
                  <a:extLst>
                    <a:ext uri="{9D8B030D-6E8A-4147-A177-3AD203B41FA5}">
                      <a16:colId xmlns:a16="http://schemas.microsoft.com/office/drawing/2014/main" val="20006"/>
                    </a:ext>
                  </a:extLst>
                </a:gridCol>
                <a:gridCol w="1449161">
                  <a:extLst>
                    <a:ext uri="{9D8B030D-6E8A-4147-A177-3AD203B41FA5}">
                      <a16:colId xmlns:a16="http://schemas.microsoft.com/office/drawing/2014/main" val="20007"/>
                    </a:ext>
                  </a:extLst>
                </a:gridCol>
              </a:tblGrid>
              <a:tr h="301549">
                <a:tc>
                  <a:txBody>
                    <a:bodyPr/>
                    <a:lstStyle/>
                    <a:p>
                      <a:pPr>
                        <a:lnSpc>
                          <a:spcPct val="114000"/>
                        </a:lnSpc>
                        <a:spcBef>
                          <a:spcPts val="600"/>
                        </a:spcBef>
                        <a:spcAft>
                          <a:spcPts val="600"/>
                        </a:spcAft>
                      </a:pPr>
                      <a:r>
                        <a:rPr lang="en-IN" sz="1200" dirty="0">
                          <a:effectLst/>
                        </a:rPr>
                        <a:t>Rank</a:t>
                      </a:r>
                      <a:endParaRPr lang="en-IN" sz="1200" dirty="0">
                        <a:effectLst/>
                        <a:latin typeface="Arial"/>
                        <a:ea typeface="Arial"/>
                      </a:endParaRPr>
                    </a:p>
                  </a:txBody>
                  <a:tcPr marL="64464" marR="64464" marT="42976" marB="42976"/>
                </a:tc>
                <a:tc>
                  <a:txBody>
                    <a:bodyPr/>
                    <a:lstStyle/>
                    <a:p>
                      <a:pPr>
                        <a:lnSpc>
                          <a:spcPct val="114000"/>
                        </a:lnSpc>
                        <a:spcBef>
                          <a:spcPts val="600"/>
                        </a:spcBef>
                        <a:spcAft>
                          <a:spcPts val="600"/>
                        </a:spcAft>
                      </a:pPr>
                      <a:r>
                        <a:rPr lang="en-IN" sz="1200">
                          <a:effectLst/>
                        </a:rPr>
                        <a:t>Model Name</a:t>
                      </a:r>
                      <a:endParaRPr lang="en-IN" sz="1200">
                        <a:effectLst/>
                        <a:latin typeface="Arial"/>
                        <a:ea typeface="Arial"/>
                      </a:endParaRPr>
                    </a:p>
                  </a:txBody>
                  <a:tcPr marL="64464" marR="64464" marT="42976" marB="42976"/>
                </a:tc>
                <a:tc>
                  <a:txBody>
                    <a:bodyPr/>
                    <a:lstStyle/>
                    <a:p>
                      <a:pPr>
                        <a:lnSpc>
                          <a:spcPct val="114000"/>
                        </a:lnSpc>
                        <a:spcBef>
                          <a:spcPts val="600"/>
                        </a:spcBef>
                        <a:spcAft>
                          <a:spcPts val="600"/>
                        </a:spcAft>
                      </a:pPr>
                      <a:r>
                        <a:rPr lang="en-IN" sz="1200">
                          <a:effectLst/>
                        </a:rPr>
                        <a:t>Parameters</a:t>
                      </a:r>
                      <a:endParaRPr lang="en-IN" sz="1200">
                        <a:effectLst/>
                        <a:latin typeface="Arial"/>
                        <a:ea typeface="Arial"/>
                      </a:endParaRPr>
                    </a:p>
                  </a:txBody>
                  <a:tcPr marL="64464" marR="64464" marT="42976" marB="42976"/>
                </a:tc>
                <a:tc>
                  <a:txBody>
                    <a:bodyPr/>
                    <a:lstStyle/>
                    <a:p>
                      <a:pPr>
                        <a:lnSpc>
                          <a:spcPct val="114000"/>
                        </a:lnSpc>
                        <a:spcBef>
                          <a:spcPts val="600"/>
                        </a:spcBef>
                        <a:spcAft>
                          <a:spcPts val="600"/>
                        </a:spcAft>
                      </a:pPr>
                      <a:r>
                        <a:rPr lang="en-IN" sz="1200">
                          <a:effectLst/>
                        </a:rPr>
                        <a:t>Accuracy</a:t>
                      </a:r>
                      <a:endParaRPr lang="en-IN" sz="1200">
                        <a:effectLst/>
                        <a:latin typeface="Arial"/>
                        <a:ea typeface="Arial"/>
                      </a:endParaRPr>
                    </a:p>
                  </a:txBody>
                  <a:tcPr marL="64464" marR="64464" marT="42976" marB="42976"/>
                </a:tc>
                <a:tc>
                  <a:txBody>
                    <a:bodyPr/>
                    <a:lstStyle/>
                    <a:p>
                      <a:pPr>
                        <a:lnSpc>
                          <a:spcPct val="114000"/>
                        </a:lnSpc>
                        <a:spcBef>
                          <a:spcPts val="600"/>
                        </a:spcBef>
                        <a:spcAft>
                          <a:spcPts val="600"/>
                        </a:spcAft>
                      </a:pPr>
                      <a:r>
                        <a:rPr lang="en-IN" sz="1200">
                          <a:effectLst/>
                        </a:rPr>
                        <a:t>AUC</a:t>
                      </a:r>
                      <a:endParaRPr lang="en-IN" sz="1200">
                        <a:effectLst/>
                        <a:latin typeface="Arial"/>
                        <a:ea typeface="Arial"/>
                      </a:endParaRPr>
                    </a:p>
                  </a:txBody>
                  <a:tcPr marL="64464" marR="64464" marT="42976" marB="42976"/>
                </a:tc>
                <a:tc>
                  <a:txBody>
                    <a:bodyPr/>
                    <a:lstStyle/>
                    <a:p>
                      <a:pPr>
                        <a:lnSpc>
                          <a:spcPct val="114000"/>
                        </a:lnSpc>
                        <a:spcBef>
                          <a:spcPts val="600"/>
                        </a:spcBef>
                        <a:spcAft>
                          <a:spcPts val="600"/>
                        </a:spcAft>
                      </a:pPr>
                      <a:r>
                        <a:rPr lang="en-IN" sz="1200">
                          <a:effectLst/>
                        </a:rPr>
                        <a:t>F1-Score</a:t>
                      </a:r>
                      <a:endParaRPr lang="en-IN" sz="1200">
                        <a:effectLst/>
                        <a:latin typeface="Arial"/>
                        <a:ea typeface="Arial"/>
                      </a:endParaRPr>
                    </a:p>
                  </a:txBody>
                  <a:tcPr marL="64464" marR="64464" marT="42976" marB="42976"/>
                </a:tc>
                <a:tc>
                  <a:txBody>
                    <a:bodyPr/>
                    <a:lstStyle/>
                    <a:p>
                      <a:pPr>
                        <a:lnSpc>
                          <a:spcPct val="114000"/>
                        </a:lnSpc>
                        <a:spcBef>
                          <a:spcPts val="600"/>
                        </a:spcBef>
                        <a:spcAft>
                          <a:spcPts val="600"/>
                        </a:spcAft>
                      </a:pPr>
                      <a:r>
                        <a:rPr lang="en-IN" sz="1200">
                          <a:effectLst/>
                        </a:rPr>
                        <a:t>Precision</a:t>
                      </a:r>
                      <a:endParaRPr lang="en-IN" sz="1200">
                        <a:effectLst/>
                        <a:latin typeface="Arial"/>
                        <a:ea typeface="Arial"/>
                      </a:endParaRPr>
                    </a:p>
                  </a:txBody>
                  <a:tcPr marL="64464" marR="64464" marT="42976" marB="42976"/>
                </a:tc>
                <a:tc>
                  <a:txBody>
                    <a:bodyPr/>
                    <a:lstStyle/>
                    <a:p>
                      <a:pPr>
                        <a:lnSpc>
                          <a:spcPct val="114000"/>
                        </a:lnSpc>
                        <a:spcBef>
                          <a:spcPts val="600"/>
                        </a:spcBef>
                        <a:spcAft>
                          <a:spcPts val="600"/>
                        </a:spcAft>
                      </a:pPr>
                      <a:r>
                        <a:rPr lang="en-IN" sz="1200">
                          <a:effectLst/>
                        </a:rPr>
                        <a:t>Recall</a:t>
                      </a:r>
                      <a:endParaRPr lang="en-IN" sz="1200">
                        <a:effectLst/>
                        <a:latin typeface="Arial"/>
                        <a:ea typeface="Arial"/>
                      </a:endParaRPr>
                    </a:p>
                  </a:txBody>
                  <a:tcPr marL="64464" marR="64464" marT="42976" marB="42976"/>
                </a:tc>
                <a:extLst>
                  <a:ext uri="{0D108BD9-81ED-4DB2-BD59-A6C34878D82A}">
                    <a16:rowId xmlns:a16="http://schemas.microsoft.com/office/drawing/2014/main" val="10000"/>
                  </a:ext>
                </a:extLst>
              </a:tr>
              <a:tr h="409348">
                <a:tc>
                  <a:txBody>
                    <a:bodyPr/>
                    <a:lstStyle/>
                    <a:p>
                      <a:pPr>
                        <a:lnSpc>
                          <a:spcPct val="114000"/>
                        </a:lnSpc>
                        <a:spcAft>
                          <a:spcPts val="0"/>
                        </a:spcAft>
                      </a:pPr>
                      <a:r>
                        <a:rPr lang="en-IN" sz="1200" dirty="0">
                          <a:effectLst/>
                        </a:rPr>
                        <a:t>1</a:t>
                      </a:r>
                      <a:endParaRPr lang="en-IN" sz="1200" dirty="0">
                        <a:effectLst/>
                        <a:latin typeface="Arial"/>
                        <a:ea typeface="Arial"/>
                      </a:endParaRPr>
                    </a:p>
                  </a:txBody>
                  <a:tcPr marL="64464" marR="64464" marT="42976" marB="42976"/>
                </a:tc>
                <a:tc>
                  <a:txBody>
                    <a:bodyPr/>
                    <a:lstStyle/>
                    <a:p>
                      <a:pPr>
                        <a:lnSpc>
                          <a:spcPct val="114000"/>
                        </a:lnSpc>
                        <a:spcAft>
                          <a:spcPts val="0"/>
                        </a:spcAft>
                      </a:pPr>
                      <a:r>
                        <a:rPr lang="en-IN" sz="1200">
                          <a:effectLst/>
                        </a:rPr>
                        <a:t>VGG19_finetuned</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~144M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99.17%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0.9993</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0.9917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0.9916</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0.9917</a:t>
                      </a:r>
                      <a:endParaRPr lang="en-IN" sz="1200">
                        <a:effectLst/>
                        <a:latin typeface="Arial"/>
                        <a:ea typeface="Arial"/>
                      </a:endParaRPr>
                    </a:p>
                  </a:txBody>
                  <a:tcPr marL="64464" marR="64464" marT="42976" marB="42976"/>
                </a:tc>
                <a:extLst>
                  <a:ext uri="{0D108BD9-81ED-4DB2-BD59-A6C34878D82A}">
                    <a16:rowId xmlns:a16="http://schemas.microsoft.com/office/drawing/2014/main" val="10001"/>
                  </a:ext>
                </a:extLst>
              </a:tr>
              <a:tr h="409348">
                <a:tc>
                  <a:txBody>
                    <a:bodyPr/>
                    <a:lstStyle/>
                    <a:p>
                      <a:pPr>
                        <a:lnSpc>
                          <a:spcPct val="114000"/>
                        </a:lnSpc>
                        <a:spcAft>
                          <a:spcPts val="0"/>
                        </a:spcAft>
                      </a:pPr>
                      <a:r>
                        <a:rPr lang="en-IN" sz="1200" dirty="0">
                          <a:effectLst/>
                        </a:rPr>
                        <a:t>2</a:t>
                      </a:r>
                      <a:endParaRPr lang="en-IN" sz="1200" dirty="0">
                        <a:effectLst/>
                        <a:latin typeface="Arial"/>
                        <a:ea typeface="Arial"/>
                      </a:endParaRPr>
                    </a:p>
                  </a:txBody>
                  <a:tcPr marL="64464" marR="64464" marT="42976" marB="42976"/>
                </a:tc>
                <a:tc>
                  <a:txBody>
                    <a:bodyPr/>
                    <a:lstStyle/>
                    <a:p>
                      <a:pPr>
                        <a:lnSpc>
                          <a:spcPct val="114000"/>
                        </a:lnSpc>
                        <a:spcAft>
                          <a:spcPts val="0"/>
                        </a:spcAft>
                      </a:pPr>
                      <a:r>
                        <a:rPr lang="en-IN" sz="1200">
                          <a:effectLst/>
                        </a:rPr>
                        <a:t>VGG16_finetuned</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~138M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99.10%</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0.9997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0.9909</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0.9902</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0.9916</a:t>
                      </a:r>
                      <a:endParaRPr lang="en-IN" sz="1200">
                        <a:effectLst/>
                        <a:latin typeface="Arial"/>
                        <a:ea typeface="Arial"/>
                      </a:endParaRPr>
                    </a:p>
                  </a:txBody>
                  <a:tcPr marL="64464" marR="64464" marT="42976" marB="42976"/>
                </a:tc>
                <a:extLst>
                  <a:ext uri="{0D108BD9-81ED-4DB2-BD59-A6C34878D82A}">
                    <a16:rowId xmlns:a16="http://schemas.microsoft.com/office/drawing/2014/main" val="10002"/>
                  </a:ext>
                </a:extLst>
              </a:tr>
              <a:tr h="517147">
                <a:tc>
                  <a:txBody>
                    <a:bodyPr/>
                    <a:lstStyle/>
                    <a:p>
                      <a:pPr>
                        <a:lnSpc>
                          <a:spcPct val="114000"/>
                        </a:lnSpc>
                        <a:spcAft>
                          <a:spcPts val="0"/>
                        </a:spcAft>
                      </a:pPr>
                      <a:r>
                        <a:rPr lang="en-IN" sz="1200">
                          <a:effectLst/>
                        </a:rPr>
                        <a:t>3</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WildfireNet (Custom)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~5.1M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98.84%</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0.9991</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0.9883</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0.9879</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0.9887</a:t>
                      </a:r>
                      <a:endParaRPr lang="en-IN" sz="1200">
                        <a:effectLst/>
                        <a:latin typeface="Arial"/>
                        <a:ea typeface="Arial"/>
                      </a:endParaRPr>
                    </a:p>
                  </a:txBody>
                  <a:tcPr marL="64464" marR="64464" marT="42976" marB="42976"/>
                </a:tc>
                <a:extLst>
                  <a:ext uri="{0D108BD9-81ED-4DB2-BD59-A6C34878D82A}">
                    <a16:rowId xmlns:a16="http://schemas.microsoft.com/office/drawing/2014/main" val="10003"/>
                  </a:ext>
                </a:extLst>
              </a:tr>
              <a:tr h="409348">
                <a:tc>
                  <a:txBody>
                    <a:bodyPr/>
                    <a:lstStyle/>
                    <a:p>
                      <a:pPr>
                        <a:lnSpc>
                          <a:spcPct val="114000"/>
                        </a:lnSpc>
                        <a:spcAft>
                          <a:spcPts val="0"/>
                        </a:spcAft>
                      </a:pPr>
                      <a:r>
                        <a:rPr lang="en-IN" sz="1200">
                          <a:effectLst/>
                        </a:rPr>
                        <a:t>4</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ResNet50V2_finetuned</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~25.6M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98.37%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0.9985</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0.9835</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0.9833</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0.9837</a:t>
                      </a:r>
                      <a:endParaRPr lang="en-IN" sz="1200">
                        <a:effectLst/>
                        <a:latin typeface="Arial"/>
                        <a:ea typeface="Arial"/>
                      </a:endParaRPr>
                    </a:p>
                  </a:txBody>
                  <a:tcPr marL="64464" marR="64464" marT="42976" marB="42976"/>
                </a:tc>
                <a:extLst>
                  <a:ext uri="{0D108BD9-81ED-4DB2-BD59-A6C34878D82A}">
                    <a16:rowId xmlns:a16="http://schemas.microsoft.com/office/drawing/2014/main" val="10004"/>
                  </a:ext>
                </a:extLst>
              </a:tr>
              <a:tr h="301549">
                <a:tc>
                  <a:txBody>
                    <a:bodyPr/>
                    <a:lstStyle/>
                    <a:p>
                      <a:pPr>
                        <a:lnSpc>
                          <a:spcPct val="114000"/>
                        </a:lnSpc>
                        <a:spcAft>
                          <a:spcPts val="0"/>
                        </a:spcAft>
                      </a:pPr>
                      <a:r>
                        <a:rPr lang="en-IN" sz="1200">
                          <a:effectLst/>
                        </a:rPr>
                        <a:t>5</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ResNet50V2</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~25.6M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97.24%</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0.9966</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0.9721</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0.9720</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0.9721</a:t>
                      </a:r>
                      <a:endParaRPr lang="en-IN" sz="1200">
                        <a:effectLst/>
                        <a:latin typeface="Arial"/>
                        <a:ea typeface="Arial"/>
                      </a:endParaRPr>
                    </a:p>
                  </a:txBody>
                  <a:tcPr marL="64464" marR="64464" marT="42976" marB="42976"/>
                </a:tc>
                <a:extLst>
                  <a:ext uri="{0D108BD9-81ED-4DB2-BD59-A6C34878D82A}">
                    <a16:rowId xmlns:a16="http://schemas.microsoft.com/office/drawing/2014/main" val="10005"/>
                  </a:ext>
                </a:extLst>
              </a:tr>
              <a:tr h="193751">
                <a:tc>
                  <a:txBody>
                    <a:bodyPr/>
                    <a:lstStyle/>
                    <a:p>
                      <a:pPr>
                        <a:lnSpc>
                          <a:spcPct val="114000"/>
                        </a:lnSpc>
                        <a:spcAft>
                          <a:spcPts val="0"/>
                        </a:spcAft>
                      </a:pPr>
                      <a:r>
                        <a:rPr lang="en-IN" sz="1200">
                          <a:effectLst/>
                        </a:rPr>
                        <a:t>6</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FireNet</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~6.5M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95.51%</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0.9897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0.9547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0.9540</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0.9555</a:t>
                      </a:r>
                      <a:endParaRPr lang="en-IN" sz="1200">
                        <a:effectLst/>
                        <a:latin typeface="Arial"/>
                        <a:ea typeface="Arial"/>
                      </a:endParaRPr>
                    </a:p>
                  </a:txBody>
                  <a:tcPr marL="64464" marR="64464" marT="42976" marB="42976"/>
                </a:tc>
                <a:extLst>
                  <a:ext uri="{0D108BD9-81ED-4DB2-BD59-A6C34878D82A}">
                    <a16:rowId xmlns:a16="http://schemas.microsoft.com/office/drawing/2014/main" val="10006"/>
                  </a:ext>
                </a:extLst>
              </a:tr>
              <a:tr h="193751">
                <a:tc>
                  <a:txBody>
                    <a:bodyPr/>
                    <a:lstStyle/>
                    <a:p>
                      <a:pPr>
                        <a:lnSpc>
                          <a:spcPct val="114000"/>
                        </a:lnSpc>
                        <a:spcAft>
                          <a:spcPts val="0"/>
                        </a:spcAft>
                      </a:pPr>
                      <a:r>
                        <a:rPr lang="en-IN" sz="1200">
                          <a:effectLst/>
                        </a:rPr>
                        <a:t>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VGG16</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~138M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95.41%</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0.9883</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0.9535</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0.9550</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0.9523</a:t>
                      </a:r>
                      <a:endParaRPr lang="en-IN" sz="1200">
                        <a:effectLst/>
                        <a:latin typeface="Arial"/>
                        <a:ea typeface="Arial"/>
                      </a:endParaRPr>
                    </a:p>
                  </a:txBody>
                  <a:tcPr marL="64464" marR="64464" marT="42976" marB="42976"/>
                </a:tc>
                <a:extLst>
                  <a:ext uri="{0D108BD9-81ED-4DB2-BD59-A6C34878D82A}">
                    <a16:rowId xmlns:a16="http://schemas.microsoft.com/office/drawing/2014/main" val="10007"/>
                  </a:ext>
                </a:extLst>
              </a:tr>
              <a:tr h="193751">
                <a:tc>
                  <a:txBody>
                    <a:bodyPr/>
                    <a:lstStyle/>
                    <a:p>
                      <a:pPr>
                        <a:lnSpc>
                          <a:spcPct val="114000"/>
                        </a:lnSpc>
                        <a:spcAft>
                          <a:spcPts val="0"/>
                        </a:spcAft>
                      </a:pPr>
                      <a:r>
                        <a:rPr lang="en-IN" sz="1200">
                          <a:effectLst/>
                        </a:rPr>
                        <a:t>8</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VGG19</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~144M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94.21%</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0.9856</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0.9412</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0.9429</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0.9400</a:t>
                      </a:r>
                      <a:endParaRPr lang="en-IN" sz="1200">
                        <a:effectLst/>
                        <a:latin typeface="Arial"/>
                        <a:ea typeface="Arial"/>
                      </a:endParaRPr>
                    </a:p>
                  </a:txBody>
                  <a:tcPr marL="64464" marR="64464" marT="42976" marB="42976"/>
                </a:tc>
                <a:extLst>
                  <a:ext uri="{0D108BD9-81ED-4DB2-BD59-A6C34878D82A}">
                    <a16:rowId xmlns:a16="http://schemas.microsoft.com/office/drawing/2014/main" val="10008"/>
                  </a:ext>
                </a:extLst>
              </a:tr>
              <a:tr h="301549">
                <a:tc>
                  <a:txBody>
                    <a:bodyPr/>
                    <a:lstStyle/>
                    <a:p>
                      <a:pPr>
                        <a:lnSpc>
                          <a:spcPct val="114000"/>
                        </a:lnSpc>
                        <a:spcAft>
                          <a:spcPts val="0"/>
                        </a:spcAft>
                      </a:pPr>
                      <a:r>
                        <a:rPr lang="en-IN" sz="1200">
                          <a:effectLst/>
                        </a:rPr>
                        <a:t>9</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ResNet50</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~25.6M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88.05%</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0.9403</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0.8789</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0.8798</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0.8782</a:t>
                      </a:r>
                      <a:endParaRPr lang="en-IN" sz="1200">
                        <a:effectLst/>
                        <a:latin typeface="Arial"/>
                        <a:ea typeface="Arial"/>
                      </a:endParaRPr>
                    </a:p>
                  </a:txBody>
                  <a:tcPr marL="64464" marR="64464" marT="42976" marB="42976"/>
                </a:tc>
                <a:extLst>
                  <a:ext uri="{0D108BD9-81ED-4DB2-BD59-A6C34878D82A}">
                    <a16:rowId xmlns:a16="http://schemas.microsoft.com/office/drawing/2014/main" val="10009"/>
                  </a:ext>
                </a:extLst>
              </a:tr>
              <a:tr h="301549">
                <a:tc>
                  <a:txBody>
                    <a:bodyPr/>
                    <a:lstStyle/>
                    <a:p>
                      <a:pPr>
                        <a:lnSpc>
                          <a:spcPct val="114000"/>
                        </a:lnSpc>
                        <a:spcAft>
                          <a:spcPts val="0"/>
                        </a:spcAft>
                      </a:pPr>
                      <a:r>
                        <a:rPr lang="en-IN" sz="1200">
                          <a:effectLst/>
                        </a:rPr>
                        <a:t>10</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EfficientNetB0</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~5.3M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86.98%</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0.8992</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0.8664</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0.8764</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0.8624</a:t>
                      </a:r>
                      <a:endParaRPr lang="en-IN" sz="1200">
                        <a:effectLst/>
                        <a:latin typeface="Arial"/>
                        <a:ea typeface="Arial"/>
                      </a:endParaRPr>
                    </a:p>
                  </a:txBody>
                  <a:tcPr marL="64464" marR="64464" marT="42976" marB="42976"/>
                </a:tc>
                <a:extLst>
                  <a:ext uri="{0D108BD9-81ED-4DB2-BD59-A6C34878D82A}">
                    <a16:rowId xmlns:a16="http://schemas.microsoft.com/office/drawing/2014/main" val="10010"/>
                  </a:ext>
                </a:extLst>
              </a:tr>
              <a:tr h="409348">
                <a:tc>
                  <a:txBody>
                    <a:bodyPr/>
                    <a:lstStyle/>
                    <a:p>
                      <a:pPr>
                        <a:lnSpc>
                          <a:spcPct val="114000"/>
                        </a:lnSpc>
                        <a:spcAft>
                          <a:spcPts val="0"/>
                        </a:spcAft>
                      </a:pPr>
                      <a:r>
                        <a:rPr lang="en-IN" sz="1200">
                          <a:effectLst/>
                        </a:rPr>
                        <a:t>11</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MobileNetV3Large</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~5.4M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85.83%</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0.8967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0.8559</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0.8586</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0.8541</a:t>
                      </a:r>
                      <a:endParaRPr lang="en-IN" sz="1200">
                        <a:effectLst/>
                        <a:latin typeface="Arial"/>
                        <a:ea typeface="Arial"/>
                      </a:endParaRPr>
                    </a:p>
                  </a:txBody>
                  <a:tcPr marL="64464" marR="64464" marT="42976" marB="42976"/>
                </a:tc>
                <a:extLst>
                  <a:ext uri="{0D108BD9-81ED-4DB2-BD59-A6C34878D82A}">
                    <a16:rowId xmlns:a16="http://schemas.microsoft.com/office/drawing/2014/main" val="10011"/>
                  </a:ext>
                </a:extLst>
              </a:tr>
              <a:tr h="409348">
                <a:tc>
                  <a:txBody>
                    <a:bodyPr/>
                    <a:lstStyle/>
                    <a:p>
                      <a:pPr>
                        <a:lnSpc>
                          <a:spcPct val="114000"/>
                        </a:lnSpc>
                        <a:spcAft>
                          <a:spcPts val="0"/>
                        </a:spcAft>
                      </a:pPr>
                      <a:r>
                        <a:rPr lang="en-IN" sz="1200">
                          <a:effectLst/>
                        </a:rPr>
                        <a:t>12</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MobileNetV3Small</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~2.5M</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83.62%</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0.8647</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0.8334</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a:effectLst/>
                        </a:rPr>
                        <a:t>0.8361</a:t>
                      </a:r>
                      <a:endParaRPr lang="en-IN" sz="1200">
                        <a:effectLst/>
                        <a:latin typeface="Arial"/>
                        <a:ea typeface="Arial"/>
                      </a:endParaRPr>
                    </a:p>
                  </a:txBody>
                  <a:tcPr marL="64464" marR="64464" marT="42976" marB="42976"/>
                </a:tc>
                <a:tc>
                  <a:txBody>
                    <a:bodyPr/>
                    <a:lstStyle/>
                    <a:p>
                      <a:pPr>
                        <a:lnSpc>
                          <a:spcPct val="114000"/>
                        </a:lnSpc>
                        <a:spcAft>
                          <a:spcPts val="0"/>
                        </a:spcAft>
                      </a:pPr>
                      <a:r>
                        <a:rPr lang="en-IN" sz="1200" dirty="0">
                          <a:effectLst/>
                        </a:rPr>
                        <a:t>0.8318</a:t>
                      </a:r>
                      <a:endParaRPr lang="en-IN" sz="1200" dirty="0">
                        <a:effectLst/>
                        <a:latin typeface="Arial"/>
                        <a:ea typeface="Arial"/>
                      </a:endParaRPr>
                    </a:p>
                  </a:txBody>
                  <a:tcPr marL="64464" marR="64464" marT="42976" marB="42976"/>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997615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5274589"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Comparative Performance Overview</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21</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t>12 models evaluated.</a:t>
            </a:r>
          </a:p>
          <a:p>
            <a:r>
              <a:rPr lang="en-IN" dirty="0"/>
              <a:t>Sorted by accuracy:</a:t>
            </a:r>
          </a:p>
          <a:p>
            <a:r>
              <a:rPr lang="en-IN" dirty="0"/>
              <a:t>VGG19-finetuned — </a:t>
            </a:r>
            <a:r>
              <a:rPr lang="en-IN" b="1" dirty="0"/>
              <a:t>99.17%</a:t>
            </a:r>
            <a:endParaRPr lang="en-IN" dirty="0"/>
          </a:p>
          <a:p>
            <a:r>
              <a:rPr lang="en-IN" dirty="0"/>
              <a:t>VGG16-finetuned — </a:t>
            </a:r>
            <a:r>
              <a:rPr lang="en-IN" b="1" dirty="0"/>
              <a:t>99.10%</a:t>
            </a:r>
            <a:endParaRPr lang="en-IN" dirty="0"/>
          </a:p>
          <a:p>
            <a:r>
              <a:rPr lang="en-IN" dirty="0" err="1"/>
              <a:t>WildfireNet</a:t>
            </a:r>
            <a:r>
              <a:rPr lang="en-IN" dirty="0"/>
              <a:t> — </a:t>
            </a:r>
            <a:r>
              <a:rPr lang="en-IN" b="1" dirty="0"/>
              <a:t>98.84%</a:t>
            </a:r>
            <a:endParaRPr lang="en-IN" dirty="0"/>
          </a:p>
          <a:p>
            <a:r>
              <a:rPr lang="en-IN" dirty="0"/>
              <a:t>ResNet50V2-finetuned — </a:t>
            </a:r>
            <a:r>
              <a:rPr lang="en-IN" b="1" dirty="0"/>
              <a:t>98.37%</a:t>
            </a:r>
            <a:endParaRPr lang="en-IN" dirty="0"/>
          </a:p>
          <a:p>
            <a:r>
              <a:rPr lang="en-IN" dirty="0"/>
              <a:t>Lowest: MobileNetV3 Small — </a:t>
            </a:r>
            <a:r>
              <a:rPr lang="en-IN" b="1" dirty="0"/>
              <a:t>83.62%</a:t>
            </a:r>
            <a:endParaRPr lang="en-IN" dirty="0"/>
          </a:p>
          <a:p>
            <a:r>
              <a:rPr lang="en-IN" dirty="0"/>
              <a:t>Shows fine-tuning + custom models outperform standard lightweight networks.</a:t>
            </a:r>
          </a:p>
        </p:txBody>
      </p:sp>
    </p:spTree>
    <p:extLst>
      <p:ext uri="{BB962C8B-B14F-4D97-AF65-F5344CB8AC3E}">
        <p14:creationId xmlns:p14="http://schemas.microsoft.com/office/powerpoint/2010/main" val="783264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70C8C20-C3FA-77DE-1BB7-1B1C8E988FD8}"/>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DBB01E8F-0E6D-CCB3-66E1-500E00FCD869}"/>
              </a:ext>
            </a:extLst>
          </p:cNvPr>
          <p:cNvSpPr txBox="1">
            <a:spLocks noGrp="1"/>
          </p:cNvSpPr>
          <p:nvPr>
            <p:ph type="title"/>
          </p:nvPr>
        </p:nvSpPr>
        <p:spPr>
          <a:xfrm>
            <a:off x="3917755" y="171005"/>
            <a:ext cx="5274589"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Comparative Performance Overview</a:t>
            </a:r>
          </a:p>
        </p:txBody>
      </p:sp>
      <p:sp>
        <p:nvSpPr>
          <p:cNvPr id="112" name="Google Shape;112;p3">
            <a:extLst>
              <a:ext uri="{FF2B5EF4-FFF2-40B4-BE49-F238E27FC236}">
                <a16:creationId xmlns:a16="http://schemas.microsoft.com/office/drawing/2014/main" id="{C6FCF49A-6581-E14F-E9CC-519896307B4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22</a:t>
            </a:fld>
            <a:endParaRPr dirty="0">
              <a:solidFill>
                <a:schemeClr val="lt1"/>
              </a:solidFill>
            </a:endParaRPr>
          </a:p>
        </p:txBody>
      </p:sp>
      <p:pic>
        <p:nvPicPr>
          <p:cNvPr id="4" name="Picture 3">
            <a:extLst>
              <a:ext uri="{FF2B5EF4-FFF2-40B4-BE49-F238E27FC236}">
                <a16:creationId xmlns:a16="http://schemas.microsoft.com/office/drawing/2014/main" id="{9889C499-4A4C-D146-25B7-F7FDFE179CF8}"/>
              </a:ext>
            </a:extLst>
          </p:cNvPr>
          <p:cNvPicPr>
            <a:picLocks noChangeAspect="1"/>
          </p:cNvPicPr>
          <p:nvPr/>
        </p:nvPicPr>
        <p:blipFill>
          <a:blip r:embed="rId3"/>
          <a:stretch>
            <a:fillRect/>
          </a:stretch>
        </p:blipFill>
        <p:spPr>
          <a:xfrm>
            <a:off x="1112773" y="0"/>
            <a:ext cx="9663748" cy="6418946"/>
          </a:xfrm>
          <a:prstGeom prst="rect">
            <a:avLst/>
          </a:prstGeom>
        </p:spPr>
      </p:pic>
    </p:spTree>
    <p:extLst>
      <p:ext uri="{BB962C8B-B14F-4D97-AF65-F5344CB8AC3E}">
        <p14:creationId xmlns:p14="http://schemas.microsoft.com/office/powerpoint/2010/main" val="2272052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9A5DA1B-2B2A-E01D-0242-32F2EA4429D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0494C99E-494F-4561-5CD3-E33B0E18EC42}"/>
              </a:ext>
            </a:extLst>
          </p:cNvPr>
          <p:cNvSpPr txBox="1">
            <a:spLocks noGrp="1"/>
          </p:cNvSpPr>
          <p:nvPr>
            <p:ph type="title"/>
          </p:nvPr>
        </p:nvSpPr>
        <p:spPr>
          <a:xfrm>
            <a:off x="3917755" y="171005"/>
            <a:ext cx="5274589"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Comparative Performance Overview</a:t>
            </a:r>
          </a:p>
        </p:txBody>
      </p:sp>
      <p:sp>
        <p:nvSpPr>
          <p:cNvPr id="112" name="Google Shape;112;p3">
            <a:extLst>
              <a:ext uri="{FF2B5EF4-FFF2-40B4-BE49-F238E27FC236}">
                <a16:creationId xmlns:a16="http://schemas.microsoft.com/office/drawing/2014/main" id="{C11CF9A9-AF3E-C143-7112-02A79A80249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23</a:t>
            </a:fld>
            <a:endParaRPr dirty="0">
              <a:solidFill>
                <a:schemeClr val="lt1"/>
              </a:solidFill>
            </a:endParaRPr>
          </a:p>
        </p:txBody>
      </p:sp>
      <p:pic>
        <p:nvPicPr>
          <p:cNvPr id="3" name="Picture 2">
            <a:extLst>
              <a:ext uri="{FF2B5EF4-FFF2-40B4-BE49-F238E27FC236}">
                <a16:creationId xmlns:a16="http://schemas.microsoft.com/office/drawing/2014/main" id="{B899512F-378E-8C02-6DF7-4079C1B7A682}"/>
              </a:ext>
            </a:extLst>
          </p:cNvPr>
          <p:cNvPicPr>
            <a:picLocks noChangeAspect="1"/>
          </p:cNvPicPr>
          <p:nvPr/>
        </p:nvPicPr>
        <p:blipFill>
          <a:blip r:embed="rId3"/>
          <a:stretch>
            <a:fillRect/>
          </a:stretch>
        </p:blipFill>
        <p:spPr>
          <a:xfrm>
            <a:off x="1127448" y="34085"/>
            <a:ext cx="9663748" cy="6421665"/>
          </a:xfrm>
          <a:prstGeom prst="rect">
            <a:avLst/>
          </a:prstGeom>
        </p:spPr>
      </p:pic>
    </p:spTree>
    <p:extLst>
      <p:ext uri="{BB962C8B-B14F-4D97-AF65-F5344CB8AC3E}">
        <p14:creationId xmlns:p14="http://schemas.microsoft.com/office/powerpoint/2010/main" val="1109768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35760" y="404664"/>
            <a:ext cx="5274589"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Performance Metrics Explained</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24</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2124253"/>
            <a:ext cx="12053095" cy="3188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Accuracy</a:t>
            </a:r>
            <a:r>
              <a:rPr lang="en-US" dirty="0"/>
              <a:t>: Overall correctness</a:t>
            </a:r>
          </a:p>
          <a:p>
            <a:r>
              <a:rPr lang="en-US" b="1" dirty="0"/>
              <a:t>AUC</a:t>
            </a:r>
            <a:r>
              <a:rPr lang="en-US" dirty="0"/>
              <a:t>: Ability to distinguish fire vs non-fire</a:t>
            </a:r>
          </a:p>
          <a:p>
            <a:r>
              <a:rPr lang="en-US" b="1" dirty="0"/>
              <a:t>F1-score</a:t>
            </a:r>
            <a:r>
              <a:rPr lang="en-US" dirty="0"/>
              <a:t>: Balanced measure of precision + recall</a:t>
            </a:r>
          </a:p>
          <a:p>
            <a:r>
              <a:rPr lang="en-US" b="1" dirty="0"/>
              <a:t>Precision</a:t>
            </a:r>
            <a:r>
              <a:rPr lang="en-US" dirty="0"/>
              <a:t>: How many predicted fires were actually fire</a:t>
            </a:r>
          </a:p>
          <a:p>
            <a:r>
              <a:rPr lang="en-US" b="1" dirty="0"/>
              <a:t>Recall</a:t>
            </a:r>
            <a:r>
              <a:rPr lang="en-US" dirty="0"/>
              <a:t>: How many real fires the system detected</a:t>
            </a:r>
          </a:p>
          <a:p>
            <a:r>
              <a:rPr lang="en-US" dirty="0"/>
              <a:t>Important because missing a fire is more dangerous than a false alarm.</a:t>
            </a:r>
          </a:p>
        </p:txBody>
      </p:sp>
    </p:spTree>
    <p:extLst>
      <p:ext uri="{BB962C8B-B14F-4D97-AF65-F5344CB8AC3E}">
        <p14:creationId xmlns:p14="http://schemas.microsoft.com/office/powerpoint/2010/main" val="2705338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5274589"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VGG19 Fine-Tuned (Best Performer)</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25</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Achieved </a:t>
            </a:r>
            <a:r>
              <a:rPr lang="en-US" b="1" dirty="0"/>
              <a:t>99.17% accuracy</a:t>
            </a:r>
            <a:r>
              <a:rPr lang="en-US" dirty="0"/>
              <a:t>, </a:t>
            </a:r>
            <a:r>
              <a:rPr lang="en-US" b="1" dirty="0"/>
              <a:t>0.9993 AUC</a:t>
            </a:r>
            <a:r>
              <a:rPr lang="en-US" dirty="0"/>
              <a:t>, and a strong </a:t>
            </a:r>
            <a:r>
              <a:rPr lang="en-US" b="1" dirty="0"/>
              <a:t>0.9917 F1-score</a:t>
            </a:r>
            <a:r>
              <a:rPr lang="en-US" dirty="0"/>
              <a:t>, making it the top-performing model.</a:t>
            </a:r>
          </a:p>
          <a:p>
            <a:r>
              <a:rPr lang="en-US" dirty="0"/>
              <a:t>Its </a:t>
            </a:r>
            <a:r>
              <a:rPr lang="en-US" b="1" dirty="0"/>
              <a:t>very deep architecture</a:t>
            </a:r>
            <a:r>
              <a:rPr lang="en-US" dirty="0"/>
              <a:t> allows it to capture fine details such as subtle smoke patterns and small flame variations.</a:t>
            </a:r>
          </a:p>
          <a:p>
            <a:r>
              <a:rPr lang="en-US" dirty="0"/>
              <a:t>Fine-tuning significantly boosted performance by adapting deeper layers to wildfire-specific textures and color gradients.</a:t>
            </a:r>
          </a:p>
          <a:p>
            <a:r>
              <a:rPr lang="en-US" dirty="0"/>
              <a:t>Performs exceptionally well in controlled and real-world scenarios, giving highly reliable fire vs. non-fire classification.</a:t>
            </a:r>
          </a:p>
          <a:p>
            <a:r>
              <a:rPr lang="en-US" dirty="0"/>
              <a:t>However, the model is extremely heavy (~144M parameters), making it </a:t>
            </a:r>
            <a:r>
              <a:rPr lang="en-US" b="1" dirty="0"/>
              <a:t>unsuitable for low-power or real-time edge deployment</a:t>
            </a:r>
            <a:r>
              <a:rPr lang="en-US" dirty="0"/>
              <a:t>.</a:t>
            </a:r>
          </a:p>
        </p:txBody>
      </p:sp>
    </p:spTree>
    <p:extLst>
      <p:ext uri="{BB962C8B-B14F-4D97-AF65-F5344CB8AC3E}">
        <p14:creationId xmlns:p14="http://schemas.microsoft.com/office/powerpoint/2010/main" val="3700543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0457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VGG19 Fine-Tuned (Best Performer)</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26</a:t>
            </a:fld>
            <a:endParaRPr>
              <a:solidFill>
                <a:schemeClr val="lt1"/>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456" y="1429970"/>
            <a:ext cx="10151928" cy="4590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0746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0457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VGG19 Fine-Tuned (Best Performer)</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27</a:t>
            </a:fld>
            <a:endParaRPr>
              <a:solidFill>
                <a:schemeClr val="lt1"/>
              </a:solidFill>
            </a:endParaRPr>
          </a:p>
        </p:txBody>
      </p:sp>
      <p:pic>
        <p:nvPicPr>
          <p:cNvPr id="6146" name="Picture 2" descr="VGG19_finetuned_roc_curv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2024" y="1538821"/>
            <a:ext cx="5109716" cy="407466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GG19_finetuned_pr_cur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408" y="1534081"/>
            <a:ext cx="5108400" cy="4074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356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err="1">
                <a:latin typeface="Calibri" pitchFamily="34" charset="0"/>
                <a:ea typeface="Calibri" pitchFamily="34" charset="0"/>
                <a:cs typeface="Calibri" pitchFamily="34" charset="0"/>
              </a:rPr>
              <a:t>WildfireNet</a:t>
            </a:r>
            <a:r>
              <a:rPr lang="en-US" sz="4000" b="1" dirty="0">
                <a:latin typeface="Calibri" pitchFamily="34" charset="0"/>
                <a:ea typeface="Calibri" pitchFamily="34" charset="0"/>
                <a:cs typeface="Calibri" pitchFamily="34" charset="0"/>
              </a:rPr>
              <a:t> Performance (Custom Model)</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28</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Reached </a:t>
            </a:r>
            <a:r>
              <a:rPr lang="en-US" b="1" dirty="0"/>
              <a:t>98.84% accuracy</a:t>
            </a:r>
            <a:r>
              <a:rPr lang="en-US" dirty="0"/>
              <a:t>, </a:t>
            </a:r>
            <a:r>
              <a:rPr lang="en-US" b="1" dirty="0"/>
              <a:t>0.9991 AUC</a:t>
            </a:r>
            <a:r>
              <a:rPr lang="en-US" dirty="0"/>
              <a:t>, and </a:t>
            </a:r>
            <a:r>
              <a:rPr lang="en-US" b="1" dirty="0"/>
              <a:t>0.9883 F1-score</a:t>
            </a:r>
            <a:r>
              <a:rPr lang="en-US" dirty="0"/>
              <a:t>, making it one of the best-performing lightweight models.</a:t>
            </a:r>
          </a:p>
          <a:p>
            <a:r>
              <a:rPr lang="en-US" dirty="0"/>
              <a:t>With only </a:t>
            </a:r>
            <a:r>
              <a:rPr lang="en-US" b="1" dirty="0"/>
              <a:t>5.1M parameters</a:t>
            </a:r>
            <a:r>
              <a:rPr lang="en-US" dirty="0"/>
              <a:t>, it is extremely compact and ideal for </a:t>
            </a:r>
            <a:r>
              <a:rPr lang="en-US" dirty="0" err="1"/>
              <a:t>IoT</a:t>
            </a:r>
            <a:r>
              <a:rPr lang="en-US" dirty="0"/>
              <a:t> devices, drones, and edge cameras.</a:t>
            </a:r>
          </a:p>
          <a:p>
            <a:r>
              <a:rPr lang="en-US" dirty="0"/>
              <a:t>Despite being lightweight, it </a:t>
            </a:r>
            <a:r>
              <a:rPr lang="en-US" b="1" dirty="0"/>
              <a:t>outperforms </a:t>
            </a:r>
            <a:r>
              <a:rPr lang="en-US" b="1" dirty="0" err="1"/>
              <a:t>EfficientNet</a:t>
            </a:r>
            <a:r>
              <a:rPr lang="en-US" b="1" dirty="0"/>
              <a:t> and </a:t>
            </a:r>
            <a:r>
              <a:rPr lang="en-US" b="1" dirty="0" err="1"/>
              <a:t>MobileNet</a:t>
            </a:r>
            <a:r>
              <a:rPr lang="en-US" dirty="0"/>
              <a:t>, showing its design is better suited to smoke and flame detection.</a:t>
            </a:r>
          </a:p>
          <a:p>
            <a:r>
              <a:rPr lang="en-US" dirty="0"/>
              <a:t>Incorporates attention and residual mechanisms that improve its focus on fire-relevant regions and enhance robustness.</a:t>
            </a:r>
          </a:p>
          <a:p>
            <a:r>
              <a:rPr lang="en-US" dirty="0"/>
              <a:t>Delivers performance close to VGG19 while being </a:t>
            </a:r>
            <a:r>
              <a:rPr lang="en-US" b="1" dirty="0"/>
              <a:t>28× smaller</a:t>
            </a:r>
            <a:r>
              <a:rPr lang="en-US" dirty="0"/>
              <a:t>, offering an excellent accuracy–efficiency balance.</a:t>
            </a:r>
          </a:p>
        </p:txBody>
      </p:sp>
    </p:spTree>
    <p:extLst>
      <p:ext uri="{BB962C8B-B14F-4D97-AF65-F5344CB8AC3E}">
        <p14:creationId xmlns:p14="http://schemas.microsoft.com/office/powerpoint/2010/main" val="3812463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err="1">
                <a:latin typeface="Calibri" pitchFamily="34" charset="0"/>
                <a:ea typeface="Calibri" pitchFamily="34" charset="0"/>
                <a:cs typeface="Calibri" pitchFamily="34" charset="0"/>
              </a:rPr>
              <a:t>WildfireNet</a:t>
            </a:r>
            <a:r>
              <a:rPr lang="en-US" sz="4000" b="1" dirty="0">
                <a:latin typeface="Calibri" pitchFamily="34" charset="0"/>
                <a:ea typeface="Calibri" pitchFamily="34" charset="0"/>
                <a:cs typeface="Calibri" pitchFamily="34" charset="0"/>
              </a:rPr>
              <a:t> Performance (Custom Model)</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29</a:t>
            </a:fld>
            <a:endParaRPr>
              <a:solidFill>
                <a:schemeClr val="lt1"/>
              </a:solidFill>
            </a:endParaRPr>
          </a:p>
        </p:txBody>
      </p:sp>
      <p:pic>
        <p:nvPicPr>
          <p:cNvPr id="7170" name="Picture 2" descr="WildfireNet_confusion_matri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424" y="1482239"/>
            <a:ext cx="10225136" cy="4632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429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917755" y="171005"/>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err="1">
                <a:latin typeface="Calibri" pitchFamily="34" charset="0"/>
                <a:ea typeface="Calibri" pitchFamily="34" charset="0"/>
                <a:cs typeface="Calibri" pitchFamily="34" charset="0"/>
              </a:rPr>
              <a:t>WildfireNet</a:t>
            </a:r>
            <a:r>
              <a:rPr lang="en-US" sz="4000" b="1" dirty="0">
                <a:latin typeface="Calibri" pitchFamily="34" charset="0"/>
                <a:ea typeface="Calibri" pitchFamily="34" charset="0"/>
                <a:cs typeface="Calibri" pitchFamily="34" charset="0"/>
              </a:rPr>
              <a:t> Performance (Custom Model)</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30</a:t>
            </a:fld>
            <a:endParaRPr>
              <a:solidFill>
                <a:schemeClr val="lt1"/>
              </a:solidFill>
            </a:endParaRPr>
          </a:p>
        </p:txBody>
      </p:sp>
      <p:pic>
        <p:nvPicPr>
          <p:cNvPr id="8194" name="Picture 2" descr="WildfireNet_roc_curv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8048" y="1628800"/>
            <a:ext cx="5108400" cy="407361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WildfireNet_pr_cur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400" y="1627424"/>
            <a:ext cx="5108400" cy="4074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918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8864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Why Lightweight Models Struggled</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31</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218877"/>
            <a:ext cx="12053095" cy="4999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Lightweight models like </a:t>
            </a:r>
            <a:r>
              <a:rPr lang="en-US" b="1" dirty="0"/>
              <a:t>MobileNetV3 and EfficientNetB0</a:t>
            </a:r>
            <a:r>
              <a:rPr lang="en-US" dirty="0"/>
              <a:t> achieved only about </a:t>
            </a:r>
            <a:r>
              <a:rPr lang="en-US" b="1" dirty="0"/>
              <a:t>83–86% accuracy</a:t>
            </a:r>
            <a:r>
              <a:rPr lang="en-US" dirty="0"/>
              <a:t>, significantly lower than deeper networks.</a:t>
            </a:r>
          </a:p>
          <a:p>
            <a:r>
              <a:rPr lang="en-US" dirty="0"/>
              <a:t>Their </a:t>
            </a:r>
            <a:r>
              <a:rPr lang="en-US" b="1" dirty="0" err="1"/>
              <a:t>depthwise</a:t>
            </a:r>
            <a:r>
              <a:rPr lang="en-US" b="1" dirty="0"/>
              <a:t>-separable convolutions</a:t>
            </a:r>
            <a:r>
              <a:rPr lang="en-US" dirty="0"/>
              <a:t>, while efficient, fail to capture the irregular, fuzzy, and evolving shapes of wildfire smoke.</a:t>
            </a:r>
          </a:p>
          <a:p>
            <a:r>
              <a:rPr lang="en-US" dirty="0"/>
              <a:t>To stay small, these models often </a:t>
            </a:r>
            <a:r>
              <a:rPr lang="en-US" b="1" dirty="0"/>
              <a:t>compress feature maps</a:t>
            </a:r>
            <a:r>
              <a:rPr lang="en-US" dirty="0"/>
              <a:t>, causing loss of important color and texture details needed for fire detection.</a:t>
            </a:r>
          </a:p>
          <a:p>
            <a:r>
              <a:rPr lang="en-US" dirty="0"/>
              <a:t>They lack </a:t>
            </a:r>
            <a:r>
              <a:rPr lang="en-US" b="1" dirty="0"/>
              <a:t>attention mechanisms</a:t>
            </a:r>
            <a:r>
              <a:rPr lang="en-US" dirty="0"/>
              <a:t>, which means they cannot focus on the specific regions where smoke or flames appear within the image.</a:t>
            </a:r>
          </a:p>
          <a:p>
            <a:r>
              <a:rPr lang="en-US" dirty="0"/>
              <a:t>These limitations show that wildfire detection requires </a:t>
            </a:r>
            <a:r>
              <a:rPr lang="en-US" b="1" dirty="0"/>
              <a:t>specialized architectures</a:t>
            </a:r>
            <a:r>
              <a:rPr lang="en-US" dirty="0"/>
              <a:t> designed to handle complex visual patterns—not generic lightweight models.</a:t>
            </a:r>
          </a:p>
        </p:txBody>
      </p:sp>
    </p:spTree>
    <p:extLst>
      <p:ext uri="{BB962C8B-B14F-4D97-AF65-F5344CB8AC3E}">
        <p14:creationId xmlns:p14="http://schemas.microsoft.com/office/powerpoint/2010/main" val="1878577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8864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Insight: Fine-Tuning Is Critical</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32</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Fine-tuning led to a </a:t>
            </a:r>
            <a:r>
              <a:rPr lang="en-US" b="1" dirty="0"/>
              <a:t>3–5% increase in accuracy</a:t>
            </a:r>
            <a:r>
              <a:rPr lang="en-US" dirty="0"/>
              <a:t>, demonstrating its essential role in improving performance.</a:t>
            </a:r>
          </a:p>
          <a:p>
            <a:r>
              <a:rPr lang="en-US" dirty="0"/>
              <a:t>Unfreezing deeper layers allowed the model to learn </a:t>
            </a:r>
            <a:r>
              <a:rPr lang="en-US" b="1" dirty="0"/>
              <a:t>color gradients, smoke transparency levels, and texture variations</a:t>
            </a:r>
            <a:r>
              <a:rPr lang="en-US" dirty="0"/>
              <a:t> unique to fire imagery.</a:t>
            </a:r>
          </a:p>
          <a:p>
            <a:r>
              <a:rPr lang="en-US" dirty="0"/>
              <a:t>Fine-tuned models developed higher sensitivity to </a:t>
            </a:r>
            <a:r>
              <a:rPr lang="en-US" b="1" dirty="0"/>
              <a:t>low-contrast smoke</a:t>
            </a:r>
            <a:r>
              <a:rPr lang="en-US" dirty="0"/>
              <a:t> and small flame patterns often missed earlier.</a:t>
            </a:r>
          </a:p>
          <a:p>
            <a:r>
              <a:rPr lang="en-US" dirty="0"/>
              <a:t>Without fine-tuning, models frequently misclassified </a:t>
            </a:r>
            <a:r>
              <a:rPr lang="en-US" b="1" dirty="0"/>
              <a:t>fog, clouds, glare, and mist</a:t>
            </a:r>
            <a:r>
              <a:rPr lang="en-US" dirty="0"/>
              <a:t> as fire due to insufficient feature specialization.</a:t>
            </a:r>
          </a:p>
          <a:p>
            <a:r>
              <a:rPr lang="en-US" dirty="0"/>
              <a:t>Overall, fine-tuning helped transform generic ImageNet models into </a:t>
            </a:r>
            <a:r>
              <a:rPr lang="en-US" b="1" dirty="0"/>
              <a:t>highly specialized wildfire detectors</a:t>
            </a:r>
            <a:r>
              <a:rPr lang="en-US" dirty="0"/>
              <a:t>.</a:t>
            </a:r>
          </a:p>
        </p:txBody>
      </p:sp>
    </p:spTree>
    <p:extLst>
      <p:ext uri="{BB962C8B-B14F-4D97-AF65-F5344CB8AC3E}">
        <p14:creationId xmlns:p14="http://schemas.microsoft.com/office/powerpoint/2010/main" val="454021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8864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Insight: Efficiency vs Accuracy Trade-Off</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33</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68176"/>
            <a:ext cx="12053095" cy="4500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VGG19 fine-tuned</a:t>
            </a:r>
            <a:r>
              <a:rPr lang="en-US" dirty="0"/>
              <a:t> delivers the highest accuracy and strongest overall performance, but its massive size (~144M parameters) makes it impractical for real-time or low-power devices.</a:t>
            </a:r>
          </a:p>
          <a:p>
            <a:r>
              <a:rPr lang="en-US" b="1" dirty="0" err="1"/>
              <a:t>WildfireNet</a:t>
            </a:r>
            <a:r>
              <a:rPr lang="en-US" dirty="0"/>
              <a:t>, with only ~5.1M parameters, achieves almost the same accuracy while being extremely lightweight and faster to run on limited hardware.</a:t>
            </a:r>
          </a:p>
          <a:p>
            <a:r>
              <a:rPr lang="en-US" dirty="0"/>
              <a:t>This shows a clear trade-off: </a:t>
            </a:r>
            <a:r>
              <a:rPr lang="en-US" b="1" dirty="0"/>
              <a:t>high accuracy requires heavy computation</a:t>
            </a:r>
            <a:r>
              <a:rPr lang="en-US" dirty="0"/>
              <a:t>, while </a:t>
            </a:r>
            <a:r>
              <a:rPr lang="en-US" b="1" dirty="0"/>
              <a:t>efficient real-time detection needs compact models</a:t>
            </a:r>
            <a:r>
              <a:rPr lang="en-US" dirty="0"/>
              <a:t>.</a:t>
            </a:r>
          </a:p>
          <a:p>
            <a:r>
              <a:rPr lang="en-US" dirty="0"/>
              <a:t>Deployment choices depend heavily on available computing resources—</a:t>
            </a:r>
          </a:p>
          <a:p>
            <a:pPr lvl="1"/>
            <a:r>
              <a:rPr lang="en-US" b="1" dirty="0"/>
              <a:t>Cloud servers or high-performance GPUs → VGG19 fine-tuned</a:t>
            </a:r>
            <a:endParaRPr lang="en-US" dirty="0"/>
          </a:p>
          <a:p>
            <a:pPr lvl="1"/>
            <a:r>
              <a:rPr lang="en-US" b="1" dirty="0" err="1"/>
              <a:t>IoT</a:t>
            </a:r>
            <a:r>
              <a:rPr lang="en-US" b="1" dirty="0"/>
              <a:t> cameras, surveillance systems, drones, and edge devices → </a:t>
            </a:r>
            <a:r>
              <a:rPr lang="en-US" b="1" dirty="0" err="1"/>
              <a:t>WildfireNet</a:t>
            </a:r>
            <a:endParaRPr lang="en-US" dirty="0"/>
          </a:p>
        </p:txBody>
      </p:sp>
    </p:spTree>
    <p:extLst>
      <p:ext uri="{BB962C8B-B14F-4D97-AF65-F5344CB8AC3E}">
        <p14:creationId xmlns:p14="http://schemas.microsoft.com/office/powerpoint/2010/main" val="4073041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8864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System Applications</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34</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Forest surveillance towers</a:t>
            </a:r>
            <a:r>
              <a:rPr lang="en-US" dirty="0"/>
              <a:t> can use automated detection to continuously monitor large forest areas without the need for constant human supervision.</a:t>
            </a:r>
          </a:p>
          <a:p>
            <a:r>
              <a:rPr lang="en-US" b="1" dirty="0"/>
              <a:t>Drone-based monitoring</a:t>
            </a:r>
            <a:r>
              <a:rPr lang="en-US" dirty="0"/>
              <a:t> enables rapid scanning of remote or mountainous regions where access for ground teams is difficult.</a:t>
            </a:r>
          </a:p>
          <a:p>
            <a:r>
              <a:rPr lang="en-US" b="1" dirty="0"/>
              <a:t>Smart city CCTV networks</a:t>
            </a:r>
            <a:r>
              <a:rPr lang="en-US" dirty="0"/>
              <a:t> can be enhanced to detect fires in urban–forest boundary areas, industrial zones, or public spaces.</a:t>
            </a:r>
          </a:p>
          <a:p>
            <a:r>
              <a:rPr lang="en-US" b="1" dirty="0"/>
              <a:t>Remote </a:t>
            </a:r>
            <a:r>
              <a:rPr lang="en-US" b="1" dirty="0" err="1"/>
              <a:t>IoT</a:t>
            </a:r>
            <a:r>
              <a:rPr lang="en-US" b="1" dirty="0"/>
              <a:t> fire detectors</a:t>
            </a:r>
            <a:r>
              <a:rPr lang="en-US" dirty="0"/>
              <a:t> allow low-cost, real-time monitoring in rural and tribal regions with limited connectivity.</a:t>
            </a:r>
          </a:p>
          <a:p>
            <a:r>
              <a:rPr lang="en-US" b="1" dirty="0"/>
              <a:t>Wildlife protection zones</a:t>
            </a:r>
            <a:r>
              <a:rPr lang="en-US" dirty="0"/>
              <a:t> benefit from early alerts, helping safeguard habitats and prevent biodiversity loss during fire outbreaks.</a:t>
            </a:r>
          </a:p>
        </p:txBody>
      </p:sp>
    </p:spTree>
    <p:extLst>
      <p:ext uri="{BB962C8B-B14F-4D97-AF65-F5344CB8AC3E}">
        <p14:creationId xmlns:p14="http://schemas.microsoft.com/office/powerpoint/2010/main" val="3962399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8864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Future Improvements</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35</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218877"/>
            <a:ext cx="12053095" cy="4999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Extend the system to support </a:t>
            </a:r>
            <a:r>
              <a:rPr lang="en-US" b="1" dirty="0"/>
              <a:t>real-time video analysis</a:t>
            </a:r>
            <a:r>
              <a:rPr lang="en-US" dirty="0"/>
              <a:t>, enabling continuous fire and smoke tracking rather than only single-image detection.</a:t>
            </a:r>
          </a:p>
          <a:p>
            <a:r>
              <a:rPr lang="en-US" dirty="0"/>
              <a:t>Implement </a:t>
            </a:r>
            <a:r>
              <a:rPr lang="en-US" b="1" dirty="0"/>
              <a:t>on-device optimization techniques</a:t>
            </a:r>
            <a:r>
              <a:rPr lang="en-US" dirty="0"/>
              <a:t> such as quantization, pruning, and </a:t>
            </a:r>
            <a:r>
              <a:rPr lang="en-US" dirty="0" err="1"/>
              <a:t>TensorRT</a:t>
            </a:r>
            <a:r>
              <a:rPr lang="en-US" dirty="0"/>
              <a:t> acceleration to improve inference speed on low-power devices.</a:t>
            </a:r>
          </a:p>
          <a:p>
            <a:r>
              <a:rPr lang="en-US" dirty="0"/>
              <a:t>Develop </a:t>
            </a:r>
            <a:r>
              <a:rPr lang="en-US" b="1" dirty="0"/>
              <a:t>multimodal detection</a:t>
            </a:r>
            <a:r>
              <a:rPr lang="en-US" dirty="0"/>
              <a:t> by combining RGB visuals with thermal or infrared images for stronger accuracy in low-light or smoky conditions.</a:t>
            </a:r>
          </a:p>
          <a:p>
            <a:r>
              <a:rPr lang="en-US" dirty="0"/>
              <a:t>Expand the dataset with </a:t>
            </a:r>
            <a:r>
              <a:rPr lang="en-US" b="1" dirty="0"/>
              <a:t>more diverse and real-world wildfire images</a:t>
            </a:r>
            <a:r>
              <a:rPr lang="en-US" dirty="0"/>
              <a:t>, including seasonal variations and different vegetation types.</a:t>
            </a:r>
          </a:p>
          <a:p>
            <a:r>
              <a:rPr lang="en-US" dirty="0"/>
              <a:t>Integrate the system with early-warning platforms to support </a:t>
            </a:r>
            <a:r>
              <a:rPr lang="en-US" b="1" dirty="0"/>
              <a:t>fast alerts</a:t>
            </a:r>
            <a:r>
              <a:rPr lang="en-US" dirty="0"/>
              <a:t>, automated emergency responses, and improved communication with authorities.</a:t>
            </a:r>
          </a:p>
        </p:txBody>
      </p:sp>
    </p:spTree>
    <p:extLst>
      <p:ext uri="{BB962C8B-B14F-4D97-AF65-F5344CB8AC3E}">
        <p14:creationId xmlns:p14="http://schemas.microsoft.com/office/powerpoint/2010/main" val="2371022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8864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Summary of Findings</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36</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Fine-tuning plays a critical role</a:t>
            </a:r>
            <a:r>
              <a:rPr lang="en-US" dirty="0"/>
              <a:t>, boosting accuracy by 3–5% and enabling models to better understand wildfire-specific patterns.</a:t>
            </a:r>
          </a:p>
          <a:p>
            <a:r>
              <a:rPr lang="en-US" b="1" dirty="0"/>
              <a:t>VGG models</a:t>
            </a:r>
            <a:r>
              <a:rPr lang="en-US" dirty="0"/>
              <a:t> consistently deliver the highest accuracy but are too large for real-time or portable deployment.</a:t>
            </a:r>
          </a:p>
          <a:p>
            <a:r>
              <a:rPr lang="en-US" dirty="0"/>
              <a:t>The custom </a:t>
            </a:r>
            <a:r>
              <a:rPr lang="en-US" b="1" dirty="0" err="1"/>
              <a:t>WildfireNet</a:t>
            </a:r>
            <a:r>
              <a:rPr lang="en-US" b="1" dirty="0"/>
              <a:t> model</a:t>
            </a:r>
            <a:r>
              <a:rPr lang="en-US" dirty="0"/>
              <a:t> provides an excellent balance of performance and efficiency, making it ideal for edge devices.</a:t>
            </a:r>
          </a:p>
          <a:p>
            <a:r>
              <a:rPr lang="en-US" dirty="0"/>
              <a:t>Generic lightweight models like </a:t>
            </a:r>
            <a:r>
              <a:rPr lang="en-US" dirty="0" err="1"/>
              <a:t>MobileNet</a:t>
            </a:r>
            <a:r>
              <a:rPr lang="en-US" dirty="0"/>
              <a:t> and </a:t>
            </a:r>
            <a:r>
              <a:rPr lang="en-US" dirty="0" err="1"/>
              <a:t>EfficientNet</a:t>
            </a:r>
            <a:r>
              <a:rPr lang="en-US" dirty="0"/>
              <a:t> struggle due to missing detail and lack of attention mechanisms.</a:t>
            </a:r>
          </a:p>
          <a:p>
            <a:r>
              <a:rPr lang="en-US" dirty="0"/>
              <a:t>The study demonstrates that wildfire detection requires </a:t>
            </a:r>
            <a:r>
              <a:rPr lang="en-US" b="1" dirty="0"/>
              <a:t>specialized architectures</a:t>
            </a:r>
            <a:r>
              <a:rPr lang="en-US" dirty="0"/>
              <a:t> rather than standard off-the-shelf solutions.</a:t>
            </a:r>
          </a:p>
        </p:txBody>
      </p:sp>
    </p:spTree>
    <p:extLst>
      <p:ext uri="{BB962C8B-B14F-4D97-AF65-F5344CB8AC3E}">
        <p14:creationId xmlns:p14="http://schemas.microsoft.com/office/powerpoint/2010/main" val="2464985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89B3BA-4E13-968B-916E-38B6AABC0E1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A2246B3-32A9-C0A8-4C2F-97264CD690F9}"/>
              </a:ext>
            </a:extLst>
          </p:cNvPr>
          <p:cNvSpPr txBox="1">
            <a:spLocks noGrp="1"/>
          </p:cNvSpPr>
          <p:nvPr>
            <p:ph type="title"/>
          </p:nvPr>
        </p:nvSpPr>
        <p:spPr>
          <a:xfrm>
            <a:off x="3431704" y="188640"/>
            <a:ext cx="5850653" cy="1325400"/>
          </a:xfrm>
          <a:prstGeom prst="rect">
            <a:avLst/>
          </a:prstGeom>
          <a:noFill/>
          <a:ln>
            <a:noFill/>
          </a:ln>
        </p:spPr>
        <p:txBody>
          <a:bodyPr spcFirstLastPara="1" wrap="square" lIns="91425" tIns="45700" rIns="91425" bIns="45700" anchor="ctr" anchorCtr="0">
            <a:noAutofit/>
          </a:bodyPr>
          <a:lstStyle/>
          <a:p>
            <a:pPr lvl="0" algn="ctr">
              <a:buSzPts val="4400"/>
            </a:pPr>
            <a:r>
              <a:rPr lang="en-US" sz="4000" b="1" dirty="0">
                <a:latin typeface="Calibri" pitchFamily="34" charset="0"/>
                <a:ea typeface="Calibri" pitchFamily="34" charset="0"/>
                <a:cs typeface="Calibri" pitchFamily="34" charset="0"/>
              </a:rPr>
              <a:t>Conclusion</a:t>
            </a:r>
          </a:p>
        </p:txBody>
      </p:sp>
      <p:sp>
        <p:nvSpPr>
          <p:cNvPr id="112" name="Google Shape;112;p3">
            <a:extLst>
              <a:ext uri="{FF2B5EF4-FFF2-40B4-BE49-F238E27FC236}">
                <a16:creationId xmlns:a16="http://schemas.microsoft.com/office/drawing/2014/main" id="{F28BD3D4-4FA0-19F2-8940-5FE60780720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37</a:t>
            </a:fld>
            <a:endParaRPr>
              <a:solidFill>
                <a:schemeClr val="lt1"/>
              </a:solidFill>
            </a:endParaRPr>
          </a:p>
        </p:txBody>
      </p:sp>
      <p:sp>
        <p:nvSpPr>
          <p:cNvPr id="6" name="Text Placeholder 5">
            <a:extLst>
              <a:ext uri="{FF2B5EF4-FFF2-40B4-BE49-F238E27FC236}">
                <a16:creationId xmlns:a16="http://schemas.microsoft.com/office/drawing/2014/main" id="{D9F22D81-8FFA-E402-5302-2B7D4E855C23}"/>
              </a:ext>
            </a:extLst>
          </p:cNvPr>
          <p:cNvSpPr>
            <a:spLocks noGrp="1" noChangeArrowheads="1"/>
          </p:cNvSpPr>
          <p:nvPr>
            <p:ph type="body" idx="1"/>
          </p:nvPr>
        </p:nvSpPr>
        <p:spPr bwMode="auto">
          <a:xfrm>
            <a:off x="69450" y="1412776"/>
            <a:ext cx="12053095"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Deep learning techniques offer a </a:t>
            </a:r>
            <a:r>
              <a:rPr lang="en-US" b="1" dirty="0"/>
              <a:t>highly reliable solution</a:t>
            </a:r>
            <a:r>
              <a:rPr lang="en-US" dirty="0"/>
              <a:t> for early wildfire detection using images.</a:t>
            </a:r>
          </a:p>
          <a:p>
            <a:r>
              <a:rPr lang="en-US" dirty="0"/>
              <a:t>The proposed </a:t>
            </a:r>
            <a:r>
              <a:rPr lang="en-US" b="1" dirty="0" err="1"/>
              <a:t>WildfireNet</a:t>
            </a:r>
            <a:r>
              <a:rPr lang="en-US" b="1" dirty="0"/>
              <a:t> architecture</a:t>
            </a:r>
            <a:r>
              <a:rPr lang="en-US" dirty="0"/>
              <a:t> enables accurate, fast, and efficient on-device inference suitable for real-world scenarios.</a:t>
            </a:r>
          </a:p>
          <a:p>
            <a:r>
              <a:rPr lang="en-US" dirty="0"/>
              <a:t>Automated detection can significantly reduce response time, helping minimize fire spread and overall damage.</a:t>
            </a:r>
          </a:p>
          <a:p>
            <a:r>
              <a:rPr lang="en-US" dirty="0"/>
              <a:t>The system shows strong potential for integration into </a:t>
            </a:r>
            <a:r>
              <a:rPr lang="en-US" b="1" dirty="0"/>
              <a:t>fire management systems, drones, </a:t>
            </a:r>
            <a:r>
              <a:rPr lang="en-US" b="1" dirty="0" err="1"/>
              <a:t>IoT</a:t>
            </a:r>
            <a:r>
              <a:rPr lang="en-US" b="1" dirty="0"/>
              <a:t> networks, and surveillance infrastructure</a:t>
            </a:r>
            <a:r>
              <a:rPr lang="en-US" dirty="0"/>
              <a:t>.</a:t>
            </a:r>
          </a:p>
          <a:p>
            <a:r>
              <a:rPr lang="en-US" dirty="0"/>
              <a:t>With continued improvements and larger datasets, the model can be scaled across regions to enhance wildfire monitoring at national and global levels.</a:t>
            </a:r>
          </a:p>
        </p:txBody>
      </p:sp>
    </p:spTree>
    <p:extLst>
      <p:ext uri="{BB962C8B-B14F-4D97-AF65-F5344CB8AC3E}">
        <p14:creationId xmlns:p14="http://schemas.microsoft.com/office/powerpoint/2010/main" val="2482059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98673FEE-0015-EB04-593A-2F31EF3F36B5}"/>
            </a:ext>
          </a:extLst>
        </p:cNvPr>
        <p:cNvGrpSpPr/>
        <p:nvPr/>
      </p:nvGrpSpPr>
      <p:grpSpPr>
        <a:xfrm>
          <a:off x="0" y="0"/>
          <a:ext cx="0" cy="0"/>
          <a:chOff x="0" y="0"/>
          <a:chExt cx="0" cy="0"/>
        </a:xfrm>
      </p:grpSpPr>
      <p:sp>
        <p:nvSpPr>
          <p:cNvPr id="124" name="Google Shape;124;p2">
            <a:extLst>
              <a:ext uri="{FF2B5EF4-FFF2-40B4-BE49-F238E27FC236}">
                <a16:creationId xmlns:a16="http://schemas.microsoft.com/office/drawing/2014/main" id="{C1FB0668-D7A7-EC1A-2B57-39F366168178}"/>
              </a:ext>
            </a:extLst>
          </p:cNvPr>
          <p:cNvSpPr txBox="1">
            <a:spLocks noGrp="1"/>
          </p:cNvSpPr>
          <p:nvPr>
            <p:ph type="title"/>
          </p:nvPr>
        </p:nvSpPr>
        <p:spPr>
          <a:xfrm>
            <a:off x="838200" y="500062"/>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4000" b="1" dirty="0"/>
              <a:t>References</a:t>
            </a:r>
            <a:endParaRPr lang="en-US" sz="4000" dirty="0"/>
          </a:p>
        </p:txBody>
      </p:sp>
      <p:sp>
        <p:nvSpPr>
          <p:cNvPr id="126" name="Google Shape;126;p2">
            <a:extLst>
              <a:ext uri="{FF2B5EF4-FFF2-40B4-BE49-F238E27FC236}">
                <a16:creationId xmlns:a16="http://schemas.microsoft.com/office/drawing/2014/main" id="{B5482EF9-7DCB-9207-562B-B03284AE167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38</a:t>
            </a:fld>
            <a:endParaRPr>
              <a:solidFill>
                <a:schemeClr val="lt1"/>
              </a:solidFill>
            </a:endParaRPr>
          </a:p>
        </p:txBody>
      </p:sp>
      <p:sp>
        <p:nvSpPr>
          <p:cNvPr id="7" name="Text Placeholder 6">
            <a:extLst>
              <a:ext uri="{FF2B5EF4-FFF2-40B4-BE49-F238E27FC236}">
                <a16:creationId xmlns:a16="http://schemas.microsoft.com/office/drawing/2014/main" id="{F5D39CE1-5FE9-9DEB-0F1E-73BFB25970AC}"/>
              </a:ext>
            </a:extLst>
          </p:cNvPr>
          <p:cNvSpPr>
            <a:spLocks noGrp="1" noChangeArrowheads="1"/>
          </p:cNvSpPr>
          <p:nvPr>
            <p:ph type="body" idx="1"/>
          </p:nvPr>
        </p:nvSpPr>
        <p:spPr bwMode="auto">
          <a:xfrm>
            <a:off x="479115" y="1705924"/>
            <a:ext cx="11233769" cy="408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IN" sz="1400" b="1" dirty="0"/>
              <a:t>[1] </a:t>
            </a:r>
            <a:r>
              <a:rPr lang="en-IN" sz="1400" b="1" dirty="0" err="1"/>
              <a:t>Illarionova</a:t>
            </a:r>
            <a:r>
              <a:rPr lang="en-IN" sz="1400" b="1" dirty="0"/>
              <a:t> et al., 2025</a:t>
            </a:r>
          </a:p>
          <a:p>
            <a:pPr marL="114300" indent="0">
              <a:buNone/>
            </a:pPr>
            <a:r>
              <a:rPr lang="en-IN" sz="1400" dirty="0"/>
              <a:t>S. </a:t>
            </a:r>
            <a:r>
              <a:rPr lang="en-IN" sz="1400" dirty="0" err="1"/>
              <a:t>Illarionova</a:t>
            </a:r>
            <a:r>
              <a:rPr lang="en-IN" sz="1400" dirty="0"/>
              <a:t> </a:t>
            </a:r>
            <a:r>
              <a:rPr lang="en-IN" sz="1400" i="1" dirty="0"/>
              <a:t>et al</a:t>
            </a:r>
            <a:r>
              <a:rPr lang="en-IN" sz="1400" dirty="0"/>
              <a:t>., “Exploration of geo-spatial data and machine learning algorithms for robust wildfire occurrence prediction,” </a:t>
            </a:r>
            <a:r>
              <a:rPr lang="en-IN" sz="1400" i="1" dirty="0"/>
              <a:t>Scientific Reports</a:t>
            </a:r>
            <a:r>
              <a:rPr lang="en-IN" sz="1400" dirty="0"/>
              <a:t>, vol. 15, no. 10712, 2025.</a:t>
            </a:r>
          </a:p>
          <a:p>
            <a:pPr marL="114300" indent="0">
              <a:buNone/>
            </a:pPr>
            <a:r>
              <a:rPr lang="en-IN" sz="1400" b="1" dirty="0"/>
              <a:t>[2] Ensemble-based Daily Wildfire Outbreak Prediction in Korea (2025)</a:t>
            </a:r>
          </a:p>
          <a:p>
            <a:pPr marL="114300" indent="0">
              <a:buNone/>
            </a:pPr>
            <a:r>
              <a:rPr lang="en-IN" sz="1400" dirty="0"/>
              <a:t>[Authors not shown], “Ensemble-based daily wildfire outbreak prediction with explainable AI,” </a:t>
            </a:r>
            <a:r>
              <a:rPr lang="en-IN" sz="1400" i="1" dirty="0"/>
              <a:t>Scientific Reports</a:t>
            </a:r>
            <a:r>
              <a:rPr lang="en-IN" sz="1400" dirty="0"/>
              <a:t>, 2025.</a:t>
            </a:r>
          </a:p>
          <a:p>
            <a:pPr marL="114300" indent="0">
              <a:buNone/>
            </a:pPr>
            <a:r>
              <a:rPr lang="en-IN" sz="1400" b="1" dirty="0"/>
              <a:t>[3] GLSTD Wildfire Risk Model – Yunnan Province</a:t>
            </a:r>
          </a:p>
          <a:p>
            <a:pPr marL="114300" indent="0">
              <a:buNone/>
            </a:pPr>
            <a:r>
              <a:rPr lang="en-IN" sz="1400" dirty="0"/>
              <a:t>J. Deng, B. Hong, W. Wang, and G. </a:t>
            </a:r>
            <a:r>
              <a:rPr lang="en-IN" sz="1400" dirty="0" err="1"/>
              <a:t>Gu</a:t>
            </a:r>
            <a:r>
              <a:rPr lang="en-IN" sz="1400" dirty="0"/>
              <a:t>, “</a:t>
            </a:r>
            <a:r>
              <a:rPr lang="en-IN" sz="1400" dirty="0" err="1"/>
              <a:t>Spatio</a:t>
            </a:r>
            <a:r>
              <a:rPr lang="en-IN" sz="1400" dirty="0"/>
              <a:t>-temporal wildfire risk prediction using global–local dependency deep learning (GLSTD),” </a:t>
            </a:r>
            <a:r>
              <a:rPr lang="en-IN" sz="1400" i="1" dirty="0"/>
              <a:t>Environmental Modelling</a:t>
            </a:r>
            <a:r>
              <a:rPr lang="en-IN" sz="1400" dirty="0"/>
              <a:t>, 2024.</a:t>
            </a:r>
          </a:p>
          <a:p>
            <a:pPr marL="114300" indent="0">
              <a:buNone/>
            </a:pPr>
            <a:r>
              <a:rPr lang="en-IN" sz="1400" b="1" dirty="0"/>
              <a:t>[4] Fitzgerald et al., 2023 (ICMI '23 — U-Net Attention)</a:t>
            </a:r>
          </a:p>
          <a:p>
            <a:pPr marL="114300" indent="0">
              <a:buNone/>
            </a:pPr>
            <a:r>
              <a:rPr lang="en-IN" sz="1400" dirty="0"/>
              <a:t>N. Fitzgerald, M. </a:t>
            </a:r>
            <a:r>
              <a:rPr lang="en-IN" sz="1400" dirty="0" err="1"/>
              <a:t>Seefried</a:t>
            </a:r>
            <a:r>
              <a:rPr lang="en-IN" sz="1400" dirty="0"/>
              <a:t>, F. Yost </a:t>
            </a:r>
            <a:r>
              <a:rPr lang="en-IN" sz="1400" i="1" dirty="0"/>
              <a:t>et al</a:t>
            </a:r>
            <a:r>
              <a:rPr lang="en-IN" sz="1400" dirty="0"/>
              <a:t>., “Paying Attention to Wildfire: Using U-Net with Attention Blocks on Multimodal Data for Next Day Prediction,” in </a:t>
            </a:r>
            <a:r>
              <a:rPr lang="en-IN" sz="1400" i="1" dirty="0"/>
              <a:t>Proc. 25th ACM International Conference on Multimodal Interaction (ICMI ’23)</a:t>
            </a:r>
            <a:r>
              <a:rPr lang="en-IN" sz="1400" dirty="0"/>
              <a:t>, Paris, France, 2023.</a:t>
            </a:r>
          </a:p>
          <a:p>
            <a:pPr marL="114300" indent="0">
              <a:buNone/>
            </a:pPr>
            <a:r>
              <a:rPr lang="en-IN" sz="1400" b="1" dirty="0"/>
              <a:t>[5] Wildfire Prediction &amp; Detection using ML + GUI (ICICCS/IEEE)</a:t>
            </a:r>
          </a:p>
          <a:p>
            <a:pPr marL="114300" indent="0">
              <a:buNone/>
            </a:pPr>
            <a:r>
              <a:rPr lang="en-IN" sz="1400" dirty="0"/>
              <a:t>[Authors not shown], “An integrated machine learning and deep learning approach for wildfire prediction and detection using GUI,” in </a:t>
            </a:r>
            <a:r>
              <a:rPr lang="en-IN" sz="1400" i="1" dirty="0"/>
              <a:t>Proc. Int. Conf. Intelligent Computing and Control Systems (ICICCS)</a:t>
            </a:r>
            <a:r>
              <a:rPr lang="en-IN" sz="1400" dirty="0"/>
              <a:t>, IEEE, 2020.</a:t>
            </a:r>
          </a:p>
        </p:txBody>
      </p:sp>
    </p:spTree>
    <p:extLst>
      <p:ext uri="{BB962C8B-B14F-4D97-AF65-F5344CB8AC3E}">
        <p14:creationId xmlns:p14="http://schemas.microsoft.com/office/powerpoint/2010/main" val="3702129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98673FEE-0015-EB04-593A-2F31EF3F36B5}"/>
            </a:ext>
          </a:extLst>
        </p:cNvPr>
        <p:cNvGrpSpPr/>
        <p:nvPr/>
      </p:nvGrpSpPr>
      <p:grpSpPr>
        <a:xfrm>
          <a:off x="0" y="0"/>
          <a:ext cx="0" cy="0"/>
          <a:chOff x="0" y="0"/>
          <a:chExt cx="0" cy="0"/>
        </a:xfrm>
      </p:grpSpPr>
      <p:sp>
        <p:nvSpPr>
          <p:cNvPr id="124" name="Google Shape;124;p2">
            <a:extLst>
              <a:ext uri="{FF2B5EF4-FFF2-40B4-BE49-F238E27FC236}">
                <a16:creationId xmlns:a16="http://schemas.microsoft.com/office/drawing/2014/main" id="{C1FB0668-D7A7-EC1A-2B57-39F366168178}"/>
              </a:ext>
            </a:extLst>
          </p:cNvPr>
          <p:cNvSpPr txBox="1">
            <a:spLocks noGrp="1"/>
          </p:cNvSpPr>
          <p:nvPr>
            <p:ph type="title"/>
          </p:nvPr>
        </p:nvSpPr>
        <p:spPr>
          <a:xfrm>
            <a:off x="838200" y="500062"/>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4000" b="1" dirty="0"/>
              <a:t>References</a:t>
            </a:r>
            <a:endParaRPr lang="en-US" sz="4000" dirty="0"/>
          </a:p>
        </p:txBody>
      </p:sp>
      <p:sp>
        <p:nvSpPr>
          <p:cNvPr id="126" name="Google Shape;126;p2">
            <a:extLst>
              <a:ext uri="{FF2B5EF4-FFF2-40B4-BE49-F238E27FC236}">
                <a16:creationId xmlns:a16="http://schemas.microsoft.com/office/drawing/2014/main" id="{B5482EF9-7DCB-9207-562B-B03284AE167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39</a:t>
            </a:fld>
            <a:endParaRPr>
              <a:solidFill>
                <a:schemeClr val="lt1"/>
              </a:solidFill>
            </a:endParaRPr>
          </a:p>
        </p:txBody>
      </p:sp>
      <p:sp>
        <p:nvSpPr>
          <p:cNvPr id="7" name="Text Placeholder 6">
            <a:extLst>
              <a:ext uri="{FF2B5EF4-FFF2-40B4-BE49-F238E27FC236}">
                <a16:creationId xmlns:a16="http://schemas.microsoft.com/office/drawing/2014/main" id="{F5D39CE1-5FE9-9DEB-0F1E-73BFB25970AC}"/>
              </a:ext>
            </a:extLst>
          </p:cNvPr>
          <p:cNvSpPr>
            <a:spLocks noGrp="1" noChangeArrowheads="1"/>
          </p:cNvSpPr>
          <p:nvPr>
            <p:ph type="body" idx="1"/>
          </p:nvPr>
        </p:nvSpPr>
        <p:spPr bwMode="auto">
          <a:xfrm>
            <a:off x="479115" y="1705923"/>
            <a:ext cx="11233769" cy="408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IN" sz="1400" b="1" dirty="0"/>
              <a:t>[6] </a:t>
            </a:r>
            <a:r>
              <a:rPr lang="en-IN" sz="1400" b="1" dirty="0" err="1"/>
              <a:t>WiPreSy</a:t>
            </a:r>
            <a:r>
              <a:rPr lang="en-IN" sz="1400" b="1" dirty="0"/>
              <a:t> </a:t>
            </a:r>
            <a:r>
              <a:rPr lang="en-IN" sz="1400" b="1" dirty="0" err="1"/>
              <a:t>IoT</a:t>
            </a:r>
            <a:r>
              <a:rPr lang="en-IN" sz="1400" b="1" dirty="0"/>
              <a:t>-Based Forest Fire Prediction System (ICICCS)</a:t>
            </a:r>
          </a:p>
          <a:p>
            <a:pPr marL="114300" indent="0">
              <a:buNone/>
            </a:pPr>
            <a:r>
              <a:rPr lang="en-IN" sz="1400" dirty="0"/>
              <a:t>[Authors not shown], “</a:t>
            </a:r>
            <a:r>
              <a:rPr lang="en-IN" sz="1400" dirty="0" err="1"/>
              <a:t>WiPreSy</a:t>
            </a:r>
            <a:r>
              <a:rPr lang="en-IN" sz="1400" dirty="0"/>
              <a:t>: Wireless Prediction System for Forest Fires using </a:t>
            </a:r>
            <a:r>
              <a:rPr lang="en-IN" sz="1400" dirty="0" err="1"/>
              <a:t>IoT</a:t>
            </a:r>
            <a:r>
              <a:rPr lang="en-IN" sz="1400" dirty="0"/>
              <a:t> and Deep Learning,” in </a:t>
            </a:r>
            <a:r>
              <a:rPr lang="en-IN" sz="1400" i="1" dirty="0"/>
              <a:t>Proc. Int. Conf. Intelligent Computing and Control Systems (ICICCS)</a:t>
            </a:r>
            <a:r>
              <a:rPr lang="en-IN" sz="1400" dirty="0"/>
              <a:t>, IEEE, 2020.</a:t>
            </a:r>
          </a:p>
          <a:p>
            <a:pPr marL="114300" indent="0">
              <a:buNone/>
            </a:pPr>
            <a:r>
              <a:rPr lang="en-IN" sz="1400" b="1" dirty="0"/>
              <a:t>[7] Pang et al., 2022</a:t>
            </a:r>
          </a:p>
          <a:p>
            <a:pPr marL="114300" indent="0">
              <a:buNone/>
            </a:pPr>
            <a:r>
              <a:rPr lang="en-IN" sz="1400" dirty="0"/>
              <a:t>Y. Pang </a:t>
            </a:r>
            <a:r>
              <a:rPr lang="en-IN" sz="1400" i="1" dirty="0"/>
              <a:t>et al</a:t>
            </a:r>
            <a:r>
              <a:rPr lang="en-IN" sz="1400" dirty="0"/>
              <a:t>., “Forest fire occurrence prediction in China based on machine learning methods,” </a:t>
            </a:r>
            <a:r>
              <a:rPr lang="en-IN" sz="1400" i="1" dirty="0"/>
              <a:t>Remote Sensing</a:t>
            </a:r>
            <a:r>
              <a:rPr lang="en-IN" sz="1400" dirty="0"/>
              <a:t>, vol. 14, no. 21, p. 5546, 2022.</a:t>
            </a:r>
          </a:p>
          <a:p>
            <a:pPr marL="114300" indent="0">
              <a:buNone/>
            </a:pPr>
            <a:r>
              <a:rPr lang="en-IN" sz="1400" b="1" dirty="0"/>
              <a:t>[8] Al-</a:t>
            </a:r>
            <a:r>
              <a:rPr lang="en-IN" sz="1400" b="1" dirty="0" err="1"/>
              <a:t>Bashiti</a:t>
            </a:r>
            <a:r>
              <a:rPr lang="en-IN" sz="1400" b="1" dirty="0"/>
              <a:t> and </a:t>
            </a:r>
            <a:r>
              <a:rPr lang="en-IN" sz="1400" b="1" dirty="0" err="1"/>
              <a:t>Naser</a:t>
            </a:r>
            <a:r>
              <a:rPr lang="en-IN" sz="1400" b="1" dirty="0"/>
              <a:t>, 2022</a:t>
            </a:r>
          </a:p>
          <a:p>
            <a:pPr marL="114300" indent="0">
              <a:buNone/>
            </a:pPr>
            <a:r>
              <a:rPr lang="en-IN" sz="1400" dirty="0"/>
              <a:t>M. K. Al-</a:t>
            </a:r>
            <a:r>
              <a:rPr lang="en-IN" sz="1400" dirty="0" err="1"/>
              <a:t>Bashiti</a:t>
            </a:r>
            <a:r>
              <a:rPr lang="en-IN" sz="1400" dirty="0"/>
              <a:t> and M. Z. </a:t>
            </a:r>
            <a:r>
              <a:rPr lang="en-IN" sz="1400" dirty="0" err="1"/>
              <a:t>Naser</a:t>
            </a:r>
            <a:r>
              <a:rPr lang="en-IN" sz="1400" dirty="0"/>
              <a:t>, “Machine learning for wildfire classification: Exploring </a:t>
            </a:r>
            <a:r>
              <a:rPr lang="en-IN" sz="1400" dirty="0" err="1"/>
              <a:t>blackbox</a:t>
            </a:r>
            <a:r>
              <a:rPr lang="en-IN" sz="1400" dirty="0"/>
              <a:t>, explainable, symbolic, and SMOTE methods,” </a:t>
            </a:r>
            <a:r>
              <a:rPr lang="en-IN" sz="1400" i="1" dirty="0"/>
              <a:t>Natural Hazards Research</a:t>
            </a:r>
            <a:r>
              <a:rPr lang="en-IN" sz="1400" dirty="0"/>
              <a:t>, vol. 2, no. 3, pp. 154–165, 2022.</a:t>
            </a:r>
          </a:p>
          <a:p>
            <a:pPr marL="114300" indent="0">
              <a:buNone/>
            </a:pPr>
            <a:r>
              <a:rPr lang="en-IN" sz="1400" b="1" dirty="0"/>
              <a:t>[9] </a:t>
            </a:r>
            <a:r>
              <a:rPr lang="en-IN" sz="1400" b="1" dirty="0" err="1"/>
              <a:t>Naderpour</a:t>
            </a:r>
            <a:r>
              <a:rPr lang="en-IN" sz="1400" b="1" dirty="0"/>
              <a:t> et al., 2021</a:t>
            </a:r>
          </a:p>
          <a:p>
            <a:pPr marL="114300" indent="0">
              <a:buNone/>
            </a:pPr>
            <a:r>
              <a:rPr lang="en-IN" sz="1400" dirty="0"/>
              <a:t>H. </a:t>
            </a:r>
            <a:r>
              <a:rPr lang="en-IN" sz="1400" dirty="0" err="1"/>
              <a:t>Naderpour</a:t>
            </a:r>
            <a:r>
              <a:rPr lang="en-IN" sz="1400" dirty="0"/>
              <a:t>, P. </a:t>
            </a:r>
            <a:r>
              <a:rPr lang="en-IN" sz="1400" dirty="0" err="1"/>
              <a:t>Rizeei</a:t>
            </a:r>
            <a:r>
              <a:rPr lang="en-IN" sz="1400" dirty="0"/>
              <a:t>, A. D. A. A. </a:t>
            </a:r>
            <a:r>
              <a:rPr lang="en-IN" sz="1400" dirty="0" err="1"/>
              <a:t>Shahabi</a:t>
            </a:r>
            <a:r>
              <a:rPr lang="en-IN" sz="1400" dirty="0"/>
              <a:t>, and M. R. </a:t>
            </a:r>
            <a:r>
              <a:rPr lang="en-IN" sz="1400" dirty="0" err="1"/>
              <a:t>Mahiny</a:t>
            </a:r>
            <a:r>
              <a:rPr lang="en-IN" sz="1400" dirty="0"/>
              <a:t>, “Forest fire risk prediction: a spatial deep neural network-based framework,” </a:t>
            </a:r>
            <a:r>
              <a:rPr lang="en-IN" sz="1400" i="1" dirty="0"/>
              <a:t>Remote Sensing</a:t>
            </a:r>
            <a:r>
              <a:rPr lang="en-IN" sz="1400" dirty="0"/>
              <a:t>, vol. 13, no. 15, 2021.</a:t>
            </a:r>
          </a:p>
          <a:p>
            <a:pPr marL="114300" indent="0">
              <a:buNone/>
            </a:pPr>
            <a:r>
              <a:rPr lang="en-IN" sz="1400" b="1" dirty="0"/>
              <a:t>[10] </a:t>
            </a:r>
            <a:r>
              <a:rPr lang="en-IN" sz="1400" b="1" dirty="0" err="1"/>
              <a:t>Nami</a:t>
            </a:r>
            <a:r>
              <a:rPr lang="en-IN" sz="1400" b="1" dirty="0"/>
              <a:t> et al., 2018</a:t>
            </a:r>
          </a:p>
          <a:p>
            <a:pPr marL="114300" indent="0">
              <a:buNone/>
            </a:pPr>
            <a:r>
              <a:rPr lang="en-IN" sz="1400" dirty="0"/>
              <a:t>S. </a:t>
            </a:r>
            <a:r>
              <a:rPr lang="en-IN" sz="1400" dirty="0" err="1"/>
              <a:t>Nami</a:t>
            </a:r>
            <a:r>
              <a:rPr lang="en-IN" sz="1400" dirty="0"/>
              <a:t>, S. M. </a:t>
            </a:r>
            <a:r>
              <a:rPr lang="en-IN" sz="1400" dirty="0" err="1"/>
              <a:t>Moghadam</a:t>
            </a:r>
            <a:r>
              <a:rPr lang="en-IN" sz="1400" dirty="0"/>
              <a:t>, and A. H. </a:t>
            </a:r>
            <a:r>
              <a:rPr lang="en-IN" sz="1400" dirty="0" err="1"/>
              <a:t>Shamsoddini</a:t>
            </a:r>
            <a:r>
              <a:rPr lang="en-IN" sz="1400" dirty="0"/>
              <a:t>, “Spatial prediction of wildfire probability in the </a:t>
            </a:r>
            <a:r>
              <a:rPr lang="en-IN" sz="1400" dirty="0" err="1"/>
              <a:t>Hyrcanian</a:t>
            </a:r>
            <a:r>
              <a:rPr lang="en-IN" sz="1400" dirty="0"/>
              <a:t> ecoregion using evidential belief function model and GIS,” </a:t>
            </a:r>
            <a:r>
              <a:rPr lang="en-IN" sz="1400" i="1" dirty="0"/>
              <a:t>International Journal of Environmental Science and Technology</a:t>
            </a:r>
            <a:r>
              <a:rPr lang="en-IN" sz="1400" dirty="0"/>
              <a:t>, vol. 15, pp. 2015–2030, 2018.</a:t>
            </a:r>
          </a:p>
        </p:txBody>
      </p:sp>
    </p:spTree>
    <p:extLst>
      <p:ext uri="{BB962C8B-B14F-4D97-AF65-F5344CB8AC3E}">
        <p14:creationId xmlns:p14="http://schemas.microsoft.com/office/powerpoint/2010/main" val="791218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6" name="Google Shape;146;g1eec32c6c4d_0_6"/>
          <p:cNvSpPr txBox="1">
            <a:spLocks noGrp="1"/>
          </p:cNvSpPr>
          <p:nvPr>
            <p:ph type="body" idx="1"/>
          </p:nvPr>
        </p:nvSpPr>
        <p:spPr>
          <a:xfrm>
            <a:off x="3683124" y="2344080"/>
            <a:ext cx="4825752" cy="2169840"/>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n-US" sz="7200" dirty="0">
                <a:latin typeface="Cooper Black" panose="0208090404030B020404" pitchFamily="18" charset="0"/>
              </a:rPr>
              <a:t>THANK YOU</a:t>
            </a:r>
            <a:endParaRPr sz="7200" dirty="0">
              <a:latin typeface="Cooper Black" panose="0208090404030B020404" pitchFamily="18" charset="0"/>
            </a:endParaRPr>
          </a:p>
        </p:txBody>
      </p:sp>
      <p:sp>
        <p:nvSpPr>
          <p:cNvPr id="147" name="Google Shape;147;g1eec32c6c4d_0_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40</a:t>
            </a:fld>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910</TotalTime>
  <Words>5551</Words>
  <Application>Microsoft Office PowerPoint</Application>
  <PresentationFormat>Widescreen</PresentationFormat>
  <Paragraphs>425</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 Black</vt:lpstr>
      <vt:lpstr>Cooper Black</vt:lpstr>
      <vt:lpstr>Calibri</vt:lpstr>
      <vt:lpstr>Arial</vt:lpstr>
      <vt:lpstr>Office Theme</vt:lpstr>
      <vt:lpstr>Wildfire Detection System</vt:lpstr>
      <vt:lpstr> Introduction</vt:lpstr>
      <vt:lpstr> Problem Statement</vt:lpstr>
      <vt:lpstr>Motivation</vt:lpstr>
      <vt:lpstr>Literature Survey</vt:lpstr>
      <vt:lpstr>Literature Survey</vt:lpstr>
      <vt:lpstr>Literature Survey</vt:lpstr>
      <vt:lpstr>Literature Survey</vt:lpstr>
      <vt:lpstr>Research Gap</vt:lpstr>
      <vt:lpstr>Objectives</vt:lpstr>
      <vt:lpstr>Dataset Description</vt:lpstr>
      <vt:lpstr>Training Pipeline Overview</vt:lpstr>
      <vt:lpstr>Stage 1: Baseline Transfer Learning</vt:lpstr>
      <vt:lpstr>Stage 1: Observations</vt:lpstr>
      <vt:lpstr>Stage 2: Fine-Tuning Process</vt:lpstr>
      <vt:lpstr>Stage 2: Impact</vt:lpstr>
      <vt:lpstr>Stage 3: FireNet Architecture</vt:lpstr>
      <vt:lpstr>Stage 4: WildfireNet (Custom Model)</vt:lpstr>
      <vt:lpstr>Stage 4: WildfireNet Architecture</vt:lpstr>
      <vt:lpstr>Comparative Performance Overview</vt:lpstr>
      <vt:lpstr>Comparative Performance Overview</vt:lpstr>
      <vt:lpstr>Comparative Performance Overview</vt:lpstr>
      <vt:lpstr>Comparative Performance Overview</vt:lpstr>
      <vt:lpstr>Performance Metrics Explained</vt:lpstr>
      <vt:lpstr>VGG19 Fine-Tuned (Best Performer)</vt:lpstr>
      <vt:lpstr>VGG19 Fine-Tuned (Best Performer)</vt:lpstr>
      <vt:lpstr>VGG19 Fine-Tuned (Best Performer)</vt:lpstr>
      <vt:lpstr>WildfireNet Performance (Custom Model)</vt:lpstr>
      <vt:lpstr>WildfireNet Performance (Custom Model)</vt:lpstr>
      <vt:lpstr>WildfireNet Performance (Custom Model)</vt:lpstr>
      <vt:lpstr>Why Lightweight Models Struggled</vt:lpstr>
      <vt:lpstr>Insight: Fine-Tuning Is Critical</vt:lpstr>
      <vt:lpstr>Insight: Efficiency vs Accuracy Trade-Off</vt:lpstr>
      <vt:lpstr>System Applications</vt:lpstr>
      <vt:lpstr>Future Improvements</vt:lpstr>
      <vt:lpstr>Summary of Findings</vt:lpstr>
      <vt:lpstr>Conclusion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Mini-Project</dc:title>
  <dc:creator>Windows User</dc:creator>
  <cp:lastModifiedBy>Harikrishnan Gopal</cp:lastModifiedBy>
  <cp:revision>44</cp:revision>
  <dcterms:created xsi:type="dcterms:W3CDTF">2020-08-02T13:20:06Z</dcterms:created>
  <dcterms:modified xsi:type="dcterms:W3CDTF">2025-12-03T12:29:28Z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0x0101006791A877936F4F4895848517DF90D692</vt:lpwstr>
  </property>
</Properties>
</file>